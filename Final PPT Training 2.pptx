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6"/>
  </p:notesMasterIdLst>
  <p:sldIdLst>
    <p:sldId id="261" r:id="rId2"/>
    <p:sldId id="265" r:id="rId3"/>
    <p:sldId id="266" r:id="rId4"/>
    <p:sldId id="269" r:id="rId5"/>
    <p:sldId id="267" r:id="rId6"/>
    <p:sldId id="268" r:id="rId7"/>
    <p:sldId id="273" r:id="rId8"/>
    <p:sldId id="281" r:id="rId9"/>
    <p:sldId id="284" r:id="rId10"/>
    <p:sldId id="283" r:id="rId11"/>
    <p:sldId id="271" r:id="rId12"/>
    <p:sldId id="270" r:id="rId13"/>
    <p:sldId id="272" r:id="rId14"/>
    <p:sldId id="26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01841F-C15C-4C9B-B473-DC668B8CE355}" type="datetimeFigureOut">
              <a:rPr lang="en-US" smtClean="0"/>
              <a:t>7/16/2026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B18F9D-DE56-4FBE-9B7A-5DC9924ED673}" type="slidenum">
              <a:rPr lang="en-US" smtClean="0"/>
              <a:t>‹#›</a:t>
            </a:fld>
            <a:endParaRPr lang="en-US"/>
          </a:p>
        </p:txBody>
      </p:sp>
    </p:spTree>
    <p:extLst>
      <p:ext uri="{BB962C8B-B14F-4D97-AF65-F5344CB8AC3E}">
        <p14:creationId xmlns:p14="http://schemas.microsoft.com/office/powerpoint/2010/main" val="1269797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3A6A79-D85F-4D25-B5FC-3B5D6704A7FD}"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3A6A79-D85F-4D25-B5FC-3B5D6704A7FD}" type="datetimeFigureOut">
              <a:rPr lang="en-IN" smtClean="0"/>
              <a:t>16-07-2026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DA358-1224-4AAF-A557-330CB2F189CB}" type="slidenum">
              <a:rPr lang="en-IN" smtClean="0"/>
              <a:t>‹#›</a:t>
            </a:fld>
            <a:endParaRPr lang="en-IN"/>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3A6A79-D85F-4D25-B5FC-3B5D6704A7FD}" type="datetimeFigureOut">
              <a:rPr lang="en-IN" smtClean="0"/>
              <a:t>16-07-2026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3A6A79-D85F-4D25-B5FC-3B5D6704A7FD}" type="datetimeFigureOut">
              <a:rPr lang="en-IN" smtClean="0"/>
              <a:t>16-07-2026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413A6A79-D85F-4D25-B5FC-3B5D6704A7FD}" type="datetimeFigureOut">
              <a:rPr lang="en-IN" smtClean="0"/>
              <a:t>16-07-2026</a:t>
            </a:fld>
            <a:endParaRPr lang="en-IN"/>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9B3DA358-1224-4AAF-A557-330CB2F189C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mallareddyuniversity.ac.in/" TargetMode="External"/><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DFAB-946D-4828-BEB0-01F20722E9B4}"/>
              </a:ext>
            </a:extLst>
          </p:cNvPr>
          <p:cNvSpPr>
            <a:spLocks noGrp="1"/>
          </p:cNvSpPr>
          <p:nvPr>
            <p:ph type="title"/>
          </p:nvPr>
        </p:nvSpPr>
        <p:spPr>
          <a:xfrm>
            <a:off x="92597" y="97654"/>
            <a:ext cx="12014522" cy="6661960"/>
          </a:xfrm>
        </p:spPr>
        <p:txBody>
          <a:bodyPr>
            <a:normAutofit/>
          </a:bodyPr>
          <a:lstStyle/>
          <a:p>
            <a:pPr marR="441960">
              <a:spcBef>
                <a:spcPts val="445"/>
              </a:spcBef>
            </a:pPr>
            <a: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1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br>
              <a:rPr lang="en-IN"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Department of Computer Science </a:t>
            </a:r>
            <a:r>
              <a:rPr lang="en-US" sz="18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&amp;</a:t>
            </a: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Engineering</a:t>
            </a:r>
            <a:b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Smart Segregation System</a:t>
            </a:r>
            <a:br>
              <a:rPr lang="en-US"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Batch no. 11</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1.  2411CS010625(</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B.Shravani</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Reddy)</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2.  2411CS010637(</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K.Yuvaraj</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Singh)</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3.  2411CS010657 (</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G.Dineep</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Chandra)</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4.  2411CS010663(</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S.Sandeep</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Reddy)</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5.2411CS010670(</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J.Sangeetha</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4" name="image1.png"/>
          <p:cNvPicPr/>
          <p:nvPr/>
        </p:nvPicPr>
        <p:blipFill>
          <a:blip r:embed="rId2" cstate="print"/>
          <a:stretch>
            <a:fillRect/>
          </a:stretch>
        </p:blipFill>
        <p:spPr>
          <a:xfrm>
            <a:off x="2707005" y="413971"/>
            <a:ext cx="6777990" cy="1145540"/>
          </a:xfrm>
          <a:prstGeom prst="rect">
            <a:avLst/>
          </a:prstGeom>
        </p:spPr>
      </p:pic>
      <p:sp>
        <p:nvSpPr>
          <p:cNvPr id="6" name="Text Box 6"/>
          <p:cNvSpPr txBox="1">
            <a:spLocks noChangeArrowheads="1"/>
          </p:cNvSpPr>
          <p:nvPr/>
        </p:nvSpPr>
        <p:spPr bwMode="auto">
          <a:xfrm>
            <a:off x="4506843" y="1252346"/>
            <a:ext cx="2753995" cy="357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6350" marR="6350" algn="ctr">
              <a:lnSpc>
                <a:spcPct val="115000"/>
              </a:lnSpc>
              <a:spcAft>
                <a:spcPts val="0"/>
              </a:spcAft>
            </a:pPr>
            <a:r>
              <a:rPr lang="en-IN" sz="950" spc="-5" dirty="0">
                <a:effectLst/>
                <a:latin typeface="Calibri"/>
                <a:ea typeface="Calibri"/>
                <a:cs typeface="Times New Roman"/>
              </a:rPr>
              <a:t>(</a:t>
            </a:r>
            <a:r>
              <a:rPr lang="en-IN" sz="900" b="1" spc="-5" dirty="0" err="1">
                <a:effectLst/>
                <a:latin typeface="Calibri"/>
                <a:ea typeface="Calibri"/>
                <a:cs typeface="Times New Roman"/>
              </a:rPr>
              <a:t>Telangana</a:t>
            </a:r>
            <a:r>
              <a:rPr lang="en-IN" sz="900" b="1" spc="-10" dirty="0">
                <a:effectLst/>
                <a:latin typeface="Calibri"/>
                <a:ea typeface="Calibri"/>
                <a:cs typeface="Times New Roman"/>
              </a:rPr>
              <a:t> </a:t>
            </a:r>
            <a:r>
              <a:rPr lang="en-IN" sz="900" b="1" dirty="0">
                <a:effectLst/>
                <a:latin typeface="Calibri"/>
                <a:ea typeface="Calibri"/>
                <a:cs typeface="Times New Roman"/>
              </a:rPr>
              <a:t>State</a:t>
            </a:r>
            <a:r>
              <a:rPr lang="en-IN" sz="900" b="1" spc="-30" dirty="0">
                <a:effectLst/>
                <a:latin typeface="Calibri"/>
                <a:ea typeface="Calibri"/>
                <a:cs typeface="Times New Roman"/>
              </a:rPr>
              <a:t> </a:t>
            </a:r>
            <a:r>
              <a:rPr lang="en-IN" sz="900" b="1" dirty="0">
                <a:effectLst/>
                <a:latin typeface="Calibri"/>
                <a:ea typeface="Calibri"/>
                <a:cs typeface="Times New Roman"/>
              </a:rPr>
              <a:t>Private</a:t>
            </a:r>
            <a:r>
              <a:rPr lang="en-IN" sz="900" b="1" spc="-50" dirty="0">
                <a:effectLst/>
                <a:latin typeface="Calibri"/>
                <a:ea typeface="Calibri"/>
                <a:cs typeface="Times New Roman"/>
              </a:rPr>
              <a:t> </a:t>
            </a:r>
            <a:r>
              <a:rPr lang="en-IN" sz="900" b="1" dirty="0">
                <a:effectLst/>
                <a:latin typeface="Calibri"/>
                <a:ea typeface="Calibri"/>
                <a:cs typeface="Times New Roman"/>
              </a:rPr>
              <a:t>Universities</a:t>
            </a:r>
            <a:r>
              <a:rPr lang="en-IN" sz="900" b="1" spc="-5" dirty="0">
                <a:effectLst/>
                <a:latin typeface="Calibri"/>
                <a:ea typeface="Calibri"/>
                <a:cs typeface="Times New Roman"/>
              </a:rPr>
              <a:t> </a:t>
            </a:r>
            <a:r>
              <a:rPr lang="en-IN" sz="900" b="1" dirty="0">
                <a:effectLst/>
                <a:latin typeface="Calibri"/>
                <a:ea typeface="Calibri"/>
                <a:cs typeface="Times New Roman"/>
              </a:rPr>
              <a:t>Act</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10" dirty="0">
                <a:effectLst/>
                <a:latin typeface="Calibri"/>
                <a:ea typeface="Calibri"/>
                <a:cs typeface="Times New Roman"/>
              </a:rPr>
              <a:t> </a:t>
            </a:r>
            <a:r>
              <a:rPr lang="en-IN" sz="900" b="1" dirty="0">
                <a:effectLst/>
                <a:latin typeface="Calibri"/>
                <a:ea typeface="Calibri"/>
                <a:cs typeface="Times New Roman"/>
              </a:rPr>
              <a:t>13</a:t>
            </a:r>
            <a:r>
              <a:rPr lang="en-IN" sz="900" b="1" spc="-30" dirty="0">
                <a:effectLst/>
                <a:latin typeface="Calibri"/>
                <a:ea typeface="Calibri"/>
                <a:cs typeface="Times New Roman"/>
              </a:rPr>
              <a:t> </a:t>
            </a:r>
            <a:r>
              <a:rPr lang="en-IN" sz="900" b="1" dirty="0">
                <a:effectLst/>
                <a:latin typeface="Calibri"/>
                <a:ea typeface="Calibri"/>
                <a:cs typeface="Times New Roman"/>
              </a:rPr>
              <a:t>of</a:t>
            </a:r>
            <a:r>
              <a:rPr lang="en-IN" sz="900" b="1" spc="-40" dirty="0">
                <a:effectLst/>
                <a:latin typeface="Calibri"/>
                <a:ea typeface="Calibri"/>
                <a:cs typeface="Times New Roman"/>
              </a:rPr>
              <a:t> </a:t>
            </a:r>
            <a:r>
              <a:rPr lang="en-IN" sz="900" b="1" dirty="0">
                <a:effectLst/>
                <a:latin typeface="Calibri"/>
                <a:ea typeface="Calibri"/>
                <a:cs typeface="Times New Roman"/>
              </a:rPr>
              <a:t>2020</a:t>
            </a:r>
            <a:r>
              <a:rPr lang="en-IN" sz="900" b="1" spc="-20" dirty="0">
                <a:effectLst/>
                <a:latin typeface="Calibri"/>
                <a:ea typeface="Calibri"/>
                <a:cs typeface="Times New Roman"/>
              </a:rPr>
              <a:t> </a:t>
            </a:r>
            <a:r>
              <a:rPr lang="en-IN" sz="900" b="1" dirty="0">
                <a:effectLst/>
                <a:latin typeface="Calibri"/>
                <a:ea typeface="Calibri"/>
                <a:cs typeface="Times New Roman"/>
              </a:rPr>
              <a:t>&amp;</a:t>
            </a:r>
            <a:endParaRPr lang="en-IN" sz="1100" dirty="0">
              <a:effectLst/>
              <a:latin typeface="Calibri"/>
              <a:ea typeface="Calibri"/>
              <a:cs typeface="Times New Roman"/>
            </a:endParaRPr>
          </a:p>
          <a:p>
            <a:pPr marL="5715" marR="6350" algn="ctr">
              <a:lnSpc>
                <a:spcPct val="115000"/>
              </a:lnSpc>
              <a:spcBef>
                <a:spcPts val="5"/>
              </a:spcBef>
              <a:spcAft>
                <a:spcPts val="0"/>
              </a:spcAft>
            </a:pPr>
            <a:r>
              <a:rPr lang="en-IN" sz="900" b="1" dirty="0">
                <a:effectLst/>
                <a:latin typeface="Calibri"/>
                <a:ea typeface="Calibri"/>
                <a:cs typeface="Times New Roman"/>
              </a:rPr>
              <a:t>G.O.Ms.</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25" dirty="0">
                <a:effectLst/>
                <a:latin typeface="Calibri"/>
                <a:ea typeface="Calibri"/>
                <a:cs typeface="Times New Roman"/>
              </a:rPr>
              <a:t> </a:t>
            </a:r>
            <a:r>
              <a:rPr lang="en-IN" sz="900" b="1" dirty="0">
                <a:effectLst/>
                <a:latin typeface="Calibri"/>
                <a:ea typeface="Calibri"/>
                <a:cs typeface="Times New Roman"/>
              </a:rPr>
              <a:t>14,</a:t>
            </a:r>
            <a:r>
              <a:rPr lang="en-IN" sz="900" b="1" spc="-50" dirty="0">
                <a:effectLst/>
                <a:latin typeface="Calibri"/>
                <a:ea typeface="Calibri"/>
                <a:cs typeface="Times New Roman"/>
              </a:rPr>
              <a:t> </a:t>
            </a:r>
            <a:r>
              <a:rPr lang="en-IN" sz="900" b="1" dirty="0">
                <a:effectLst/>
                <a:latin typeface="Calibri"/>
                <a:ea typeface="Calibri"/>
                <a:cs typeface="Times New Roman"/>
              </a:rPr>
              <a:t>Higher</a:t>
            </a:r>
            <a:r>
              <a:rPr lang="en-IN" sz="900" b="1" spc="-40" dirty="0">
                <a:effectLst/>
                <a:latin typeface="Calibri"/>
                <a:ea typeface="Calibri"/>
                <a:cs typeface="Times New Roman"/>
              </a:rPr>
              <a:t> </a:t>
            </a:r>
            <a:r>
              <a:rPr lang="en-IN" sz="900" b="1" dirty="0">
                <a:effectLst/>
                <a:latin typeface="Calibri"/>
                <a:ea typeface="Calibri"/>
                <a:cs typeface="Times New Roman"/>
              </a:rPr>
              <a:t>Education</a:t>
            </a:r>
            <a:r>
              <a:rPr lang="en-IN" sz="900" b="1" spc="-10" dirty="0">
                <a:effectLst/>
                <a:latin typeface="Calibri"/>
                <a:ea typeface="Calibri"/>
                <a:cs typeface="Times New Roman"/>
              </a:rPr>
              <a:t> </a:t>
            </a:r>
            <a:r>
              <a:rPr lang="en-IN" sz="900" b="1" dirty="0">
                <a:effectLst/>
                <a:latin typeface="Calibri"/>
                <a:ea typeface="Calibri"/>
                <a:cs typeface="Times New Roman"/>
              </a:rPr>
              <a:t>(UE)</a:t>
            </a:r>
            <a:r>
              <a:rPr lang="en-IN" sz="900" b="1" spc="-45" dirty="0">
                <a:effectLst/>
                <a:latin typeface="Calibri"/>
                <a:ea typeface="Calibri"/>
                <a:cs typeface="Times New Roman"/>
              </a:rPr>
              <a:t> </a:t>
            </a:r>
            <a:r>
              <a:rPr lang="en-IN" sz="900" b="1" dirty="0">
                <a:effectLst/>
                <a:latin typeface="Calibri"/>
                <a:ea typeface="Calibri"/>
                <a:cs typeface="Times New Roman"/>
              </a:rPr>
              <a:t>Department</a:t>
            </a:r>
            <a:r>
              <a:rPr lang="en-IN" sz="950" dirty="0">
                <a:effectLst/>
                <a:latin typeface="Calibri"/>
                <a:ea typeface="Calibri"/>
                <a:cs typeface="Times New Roman"/>
              </a:rPr>
              <a:t>)</a:t>
            </a:r>
            <a:endParaRPr lang="en-IN" sz="1100" dirty="0">
              <a:effectLst/>
              <a:latin typeface="Calibri"/>
              <a:ea typeface="Calibri"/>
              <a:cs typeface="Times New Roman"/>
            </a:endParaRPr>
          </a:p>
        </p:txBody>
      </p:sp>
      <p:sp>
        <p:nvSpPr>
          <p:cNvPr id="7" name="Text Box 3"/>
          <p:cNvSpPr txBox="1">
            <a:spLocks noChangeArrowheads="1"/>
          </p:cNvSpPr>
          <p:nvPr/>
        </p:nvSpPr>
        <p:spPr bwMode="auto">
          <a:xfrm>
            <a:off x="7685158" y="906650"/>
            <a:ext cx="1440180" cy="753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12700" marR="5080">
              <a:lnSpc>
                <a:spcPct val="92000"/>
              </a:lnSpc>
              <a:spcAft>
                <a:spcPts val="1000"/>
              </a:spcAft>
            </a:pPr>
            <a:r>
              <a:rPr lang="en-IN" sz="950" b="1" dirty="0" err="1">
                <a:effectLst/>
                <a:latin typeface="Calibri"/>
                <a:ea typeface="Calibri"/>
                <a:cs typeface="Times New Roman"/>
              </a:rPr>
              <a:t>Maisammaguda</a:t>
            </a:r>
            <a:r>
              <a:rPr lang="en-IN" sz="950" b="1" dirty="0">
                <a:effectLst/>
                <a:latin typeface="Calibri"/>
                <a:ea typeface="Calibri"/>
                <a:cs typeface="Times New Roman"/>
              </a:rPr>
              <a:t>, </a:t>
            </a:r>
            <a:r>
              <a:rPr lang="en-IN" sz="950" b="1" dirty="0" err="1">
                <a:effectLst/>
                <a:latin typeface="Calibri"/>
                <a:ea typeface="Calibri"/>
                <a:cs typeface="Times New Roman"/>
              </a:rPr>
              <a:t>Kompally</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Medchal</a:t>
            </a:r>
            <a:r>
              <a:rPr lang="en-IN" sz="950" b="1" spc="-20" dirty="0">
                <a:effectLst/>
                <a:latin typeface="Calibri"/>
                <a:ea typeface="Calibri"/>
                <a:cs typeface="Times New Roman"/>
              </a:rPr>
              <a:t> </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Malkajgiri</a:t>
            </a:r>
            <a:r>
              <a:rPr lang="en-IN" sz="950" b="1" spc="-35" dirty="0">
                <a:effectLst/>
                <a:latin typeface="Calibri"/>
                <a:ea typeface="Calibri"/>
                <a:cs typeface="Times New Roman"/>
              </a:rPr>
              <a:t> </a:t>
            </a:r>
            <a:r>
              <a:rPr lang="en-IN" sz="950" b="1" dirty="0">
                <a:effectLst/>
                <a:latin typeface="Calibri"/>
                <a:ea typeface="Calibri"/>
                <a:cs typeface="Times New Roman"/>
              </a:rPr>
              <a:t>District</a:t>
            </a:r>
            <a:r>
              <a:rPr lang="en-IN" sz="950" b="1" spc="-200" dirty="0">
                <a:effectLst/>
                <a:latin typeface="Calibri"/>
                <a:ea typeface="Calibri"/>
                <a:cs typeface="Times New Roman"/>
              </a:rPr>
              <a:t> </a:t>
            </a:r>
            <a:r>
              <a:rPr lang="en-IN" sz="950" b="1" dirty="0">
                <a:effectLst/>
                <a:latin typeface="Calibri"/>
                <a:ea typeface="Calibri"/>
                <a:cs typeface="Times New Roman"/>
              </a:rPr>
              <a:t>Hyderabad - 500100,</a:t>
            </a:r>
            <a:r>
              <a:rPr lang="en-IN" sz="950" b="1" spc="5" dirty="0">
                <a:effectLst/>
                <a:latin typeface="Calibri"/>
                <a:ea typeface="Calibri"/>
                <a:cs typeface="Times New Roman"/>
              </a:rPr>
              <a:t> </a:t>
            </a:r>
            <a:r>
              <a:rPr lang="en-IN" sz="950" b="1" dirty="0" err="1">
                <a:effectLst/>
                <a:latin typeface="Calibri"/>
                <a:ea typeface="Calibri"/>
                <a:cs typeface="Times New Roman"/>
              </a:rPr>
              <a:t>Telangana</a:t>
            </a:r>
            <a:r>
              <a:rPr lang="en-IN" sz="950" b="1" spc="5" dirty="0">
                <a:effectLst/>
                <a:latin typeface="Calibri"/>
                <a:ea typeface="Calibri"/>
                <a:cs typeface="Times New Roman"/>
              </a:rPr>
              <a:t> </a:t>
            </a:r>
            <a:r>
              <a:rPr lang="en-IN" sz="950" b="1" dirty="0">
                <a:effectLst/>
                <a:latin typeface="Calibri"/>
                <a:ea typeface="Calibri"/>
                <a:cs typeface="Times New Roman"/>
              </a:rPr>
              <a:t>State</a:t>
            </a:r>
            <a:r>
              <a:rPr lang="en-IN" sz="950" b="1" u="none" strike="noStrike" dirty="0">
                <a:effectLst/>
                <a:latin typeface="Calibri"/>
                <a:ea typeface="Calibri"/>
                <a:cs typeface="Times New Roman"/>
                <a:hlinkClick r:id="rId3"/>
              </a:rPr>
              <a:t>.</a:t>
            </a:r>
            <a:r>
              <a:rPr lang="en-IN" sz="950" b="1" spc="5" dirty="0">
                <a:effectLst/>
                <a:latin typeface="Calibri"/>
                <a:ea typeface="Calibri"/>
                <a:cs typeface="Times New Roman"/>
              </a:rPr>
              <a:t> </a:t>
            </a:r>
            <a:r>
              <a:rPr lang="en-IN" sz="950" b="1" u="none" strike="noStrike" dirty="0">
                <a:effectLst/>
                <a:latin typeface="Calibri"/>
                <a:ea typeface="Calibri"/>
                <a:cs typeface="Times New Roman"/>
                <a:hlinkClick r:id="rId3"/>
              </a:rPr>
              <a:t>www.mallareddyuniversity.</a:t>
            </a:r>
            <a:endParaRPr lang="en-IN" sz="1100" dirty="0">
              <a:effectLst/>
              <a:latin typeface="Calibri"/>
              <a:ea typeface="Calibri"/>
              <a:cs typeface="Times New Roman"/>
            </a:endParaRPr>
          </a:p>
        </p:txBody>
      </p:sp>
    </p:spTree>
    <p:extLst>
      <p:ext uri="{BB962C8B-B14F-4D97-AF65-F5344CB8AC3E}">
        <p14:creationId xmlns:p14="http://schemas.microsoft.com/office/powerpoint/2010/main" val="336483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Table of Contents</a:t>
            </a:r>
            <a:endParaRPr lang="en-IN" dirty="0">
              <a:latin typeface="Times New Roman" panose="02020603050405020304" pitchFamily="18" charset="0"/>
              <a:cs typeface="Times New Roman" panose="02020603050405020304" pitchFamily="18" charset="0"/>
            </a:endParaRPr>
          </a:p>
        </p:txBody>
      </p:sp>
      <p:sp>
        <p:nvSpPr>
          <p:cNvPr id="3" name="TextBox 2"/>
          <p:cNvSpPr txBox="1"/>
          <p:nvPr/>
        </p:nvSpPr>
        <p:spPr>
          <a:xfrm>
            <a:off x="783771" y="1156996"/>
            <a:ext cx="10798628" cy="5293757"/>
          </a:xfrm>
          <a:prstGeom prst="rect">
            <a:avLst/>
          </a:prstGeom>
          <a:noFill/>
        </p:spPr>
        <p:txBody>
          <a:bodyPr wrap="square" rtlCol="0">
            <a:spAutoFit/>
          </a:bodyPr>
          <a:lstStyle/>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Introduction</a:t>
            </a:r>
          </a:p>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Abstract</a:t>
            </a:r>
          </a:p>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Literature Survey</a:t>
            </a:r>
          </a:p>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Limitations of Existing Algorithms/Methodologies</a:t>
            </a:r>
          </a:p>
          <a:p>
            <a:pPr marL="285750" indent="-285750">
              <a:lnSpc>
                <a:spcPct val="200000"/>
              </a:lnSpc>
              <a:buClr>
                <a:schemeClr val="tx2"/>
              </a:buClr>
              <a:buFont typeface="Wingdings" panose="05000000000000000000" pitchFamily="2" charset="2"/>
              <a:buChar char="Ø"/>
            </a:pPr>
            <a:r>
              <a:rPr lang="en-IN" sz="2000">
                <a:latin typeface="Times New Roman" panose="02020603050405020304" pitchFamily="18" charset="0"/>
                <a:cs typeface="Times New Roman" panose="02020603050405020304" pitchFamily="18" charset="0"/>
              </a:rPr>
              <a:t>Flowchart</a:t>
            </a:r>
            <a:endParaRPr lang="en-IN" sz="2000" dirty="0">
              <a:latin typeface="Times New Roman" panose="02020603050405020304" pitchFamily="18" charset="0"/>
              <a:cs typeface="Times New Roman" panose="02020603050405020304" pitchFamily="18" charset="0"/>
            </a:endParaRPr>
          </a:p>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Screenshots Of Application</a:t>
            </a:r>
          </a:p>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Hardware/Software Requirements</a:t>
            </a:r>
          </a:p>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Conclusion</a:t>
            </a:r>
          </a:p>
          <a:p>
            <a:endParaRPr lang="en-IN" dirty="0"/>
          </a:p>
        </p:txBody>
      </p:sp>
    </p:spTree>
    <p:extLst>
      <p:ext uri="{BB962C8B-B14F-4D97-AF65-F5344CB8AC3E}">
        <p14:creationId xmlns:p14="http://schemas.microsoft.com/office/powerpoint/2010/main" val="3599880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584D8-8605-9C34-DE15-B0B33C01463A}"/>
              </a:ext>
            </a:extLst>
          </p:cNvPr>
          <p:cNvSpPr txBox="1"/>
          <p:nvPr/>
        </p:nvSpPr>
        <p:spPr>
          <a:xfrm>
            <a:off x="597878" y="1465085"/>
            <a:ext cx="10836316" cy="3416320"/>
          </a:xfrm>
          <a:prstGeom prst="rect">
            <a:avLst/>
          </a:prstGeom>
          <a:noFill/>
        </p:spPr>
        <p:txBody>
          <a:bodyPr wrap="square">
            <a:spAutoFit/>
          </a:bodyPr>
          <a:lstStyle/>
          <a:p>
            <a:pPr algn="just"/>
            <a:r>
              <a:rPr lang="en-US" dirty="0"/>
              <a:t>Waste management is one of the most pressing environmental challenges of the 21st century. Rapid urbanization, population growth, and increased industrial activity have led to an exponential rise in waste generation across the globe. Traditional waste management systems rely heavily on manual labor </a:t>
            </a:r>
          </a:p>
          <a:p>
            <a:pPr algn="just"/>
            <a:r>
              <a:rPr lang="en-US" dirty="0"/>
              <a:t> workers physically inspect bins, sort waste by hand, and schedule pickups on fixed timetables regardless of actual bin fill levels. This approach is inefficient, costly, and environmentally </a:t>
            </a:r>
            <a:r>
              <a:rPr lang="en-US" dirty="0" err="1"/>
              <a:t>damaging.The</a:t>
            </a:r>
            <a:r>
              <a:rPr lang="en-US" dirty="0"/>
              <a:t> Smart Segregation System addresses these challenges by integrating Artificial Intelligence, IoT sensor simulation, and real-time data analytics into a unified web-based platform. The system automatically classifies waste items into five categories — Organic, Recyclable, Hazardous, E-Waste, and Residual </a:t>
            </a:r>
          </a:p>
          <a:p>
            <a:pPr algn="just"/>
            <a:r>
              <a:rPr lang="en-US" dirty="0"/>
              <a:t>using a combination of image-based object detection and a Java-powered keyword classification engine. Smart bins equipped with simulated IoT sensors continuously report fill levels, temperature, and weight data. When a bin approaches critical capacity, the system automatically generates alerts and enables operators to schedule pickups from the dashboard.</a:t>
            </a:r>
            <a:endParaRPr lang="en-US" sz="2000" dirty="0">
              <a:solidFill>
                <a:schemeClr val="bg2">
                  <a:lumMod val="10000"/>
                </a:schemeClr>
              </a:solidFill>
              <a:latin typeface="Times New Roman" panose="02020603050405020304" pitchFamily="18" charset="0"/>
              <a:ea typeface="Yu Gothic UI Semilight" panose="020B0400000000000000" pitchFamily="34" charset="-128"/>
              <a:cs typeface="Times New Roman" panose="02020603050405020304" pitchFamily="18" charset="0"/>
            </a:endParaRPr>
          </a:p>
        </p:txBody>
      </p:sp>
      <p:sp>
        <p:nvSpPr>
          <p:cNvPr id="5" name="TextBox 4">
            <a:extLst>
              <a:ext uri="{FF2B5EF4-FFF2-40B4-BE49-F238E27FC236}">
                <a16:creationId xmlns:a16="http://schemas.microsoft.com/office/drawing/2014/main" id="{47C32374-591D-A186-6506-D9EF41CA1032}"/>
              </a:ext>
            </a:extLst>
          </p:cNvPr>
          <p:cNvSpPr txBox="1"/>
          <p:nvPr/>
        </p:nvSpPr>
        <p:spPr>
          <a:xfrm>
            <a:off x="597878" y="205273"/>
            <a:ext cx="6200015" cy="1135888"/>
          </a:xfrm>
          <a:prstGeom prst="rect">
            <a:avLst/>
          </a:prstGeom>
          <a:noFill/>
        </p:spPr>
        <p:txBody>
          <a:bodyPr wrap="square">
            <a:spAutoFit/>
          </a:bodyPr>
          <a:lstStyle/>
          <a:p>
            <a:pPr marL="285750" indent="-285750">
              <a:lnSpc>
                <a:spcPct val="200000"/>
              </a:lnSpc>
              <a:buClr>
                <a:schemeClr val="tx2"/>
              </a:buClr>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361512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55F848-B4D6-379A-AE76-B464924159E7}"/>
              </a:ext>
            </a:extLst>
          </p:cNvPr>
          <p:cNvSpPr txBox="1"/>
          <p:nvPr/>
        </p:nvSpPr>
        <p:spPr>
          <a:xfrm>
            <a:off x="830424" y="1427585"/>
            <a:ext cx="10123714" cy="2092881"/>
          </a:xfrm>
          <a:prstGeom prst="rect">
            <a:avLst/>
          </a:prstGeom>
          <a:noFill/>
        </p:spPr>
        <p:txBody>
          <a:bodyPr wrap="square" rtlCol="0">
            <a:spAutoFit/>
          </a:bodyPr>
          <a:lstStyle/>
          <a:p>
            <a:r>
              <a:rPr lang="en-US" dirty="0"/>
              <a:t>The Smart Segregation System is a full-stack AI-powered waste management application designed to automate waste classification, monitor bin fill levels in real-time, and provide actionable analytics for facility operators. The system replaces manual, reactive waste management with an intelligent, proactive, and data-driven approach. It exposes endpoints covering authentication, bin management, alert generation, AI classification, and reporting. </a:t>
            </a:r>
          </a:p>
          <a:p>
            <a:r>
              <a:rPr lang="en-US" sz="2000" dirty="0">
                <a:latin typeface="Times New Roman" panose="02020603050405020304" pitchFamily="18" charset="0"/>
                <a:cs typeface="Times New Roman" panose="02020603050405020304" pitchFamily="18" charset="0"/>
              </a:rPr>
              <a:t> The system correctly handles edge cases such as screenshots, living beings, and functional assets by returning a NON-WASTE_ASSET flag.</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12C51C4-A331-B215-5515-9880C1B87DB3}"/>
              </a:ext>
            </a:extLst>
          </p:cNvPr>
          <p:cNvSpPr txBox="1"/>
          <p:nvPr/>
        </p:nvSpPr>
        <p:spPr>
          <a:xfrm>
            <a:off x="727788" y="167950"/>
            <a:ext cx="5717449" cy="1135888"/>
          </a:xfrm>
          <a:prstGeom prst="rect">
            <a:avLst/>
          </a:prstGeom>
          <a:noFill/>
        </p:spPr>
        <p:txBody>
          <a:bodyPr wrap="square">
            <a:spAutoFit/>
          </a:bodyPr>
          <a:lstStyle/>
          <a:p>
            <a:pPr marL="285750" indent="-285750">
              <a:lnSpc>
                <a:spcPct val="200000"/>
              </a:lnSpc>
              <a:buClr>
                <a:schemeClr val="tx2"/>
              </a:buClr>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Abstract</a:t>
            </a:r>
          </a:p>
        </p:txBody>
      </p:sp>
    </p:spTree>
    <p:extLst>
      <p:ext uri="{BB962C8B-B14F-4D97-AF65-F5344CB8AC3E}">
        <p14:creationId xmlns:p14="http://schemas.microsoft.com/office/powerpoint/2010/main" val="3969815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a:extLst>
              <a:ext uri="{FF2B5EF4-FFF2-40B4-BE49-F238E27FC236}">
                <a16:creationId xmlns:a16="http://schemas.microsoft.com/office/drawing/2014/main" id="{E7FE06F0-EA70-101A-EE9D-54B4D98E2482}"/>
              </a:ext>
            </a:extLst>
          </p:cNvPr>
          <p:cNvSpPr txBox="1"/>
          <p:nvPr/>
        </p:nvSpPr>
        <p:spPr>
          <a:xfrm>
            <a:off x="597878" y="445476"/>
            <a:ext cx="6406782" cy="1135888"/>
          </a:xfrm>
          <a:prstGeom prst="rect">
            <a:avLst/>
          </a:prstGeom>
          <a:noFill/>
        </p:spPr>
        <p:txBody>
          <a:bodyPr wrap="square">
            <a:spAutoFit/>
          </a:bodyPr>
          <a:lstStyle/>
          <a:p>
            <a:pPr marL="285750" indent="-285750">
              <a:lnSpc>
                <a:spcPct val="200000"/>
              </a:lnSpc>
              <a:buClr>
                <a:schemeClr val="tx2"/>
              </a:buClr>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Literature Survey</a:t>
            </a:r>
          </a:p>
        </p:txBody>
      </p:sp>
      <p:sp>
        <p:nvSpPr>
          <p:cNvPr id="42" name="TextBox 41">
            <a:extLst>
              <a:ext uri="{FF2B5EF4-FFF2-40B4-BE49-F238E27FC236}">
                <a16:creationId xmlns:a16="http://schemas.microsoft.com/office/drawing/2014/main" id="{FFC47086-2A90-8EE6-E930-20FE9F4ECD1E}"/>
              </a:ext>
            </a:extLst>
          </p:cNvPr>
          <p:cNvSpPr txBox="1"/>
          <p:nvPr/>
        </p:nvSpPr>
        <p:spPr>
          <a:xfrm>
            <a:off x="808892" y="1569642"/>
            <a:ext cx="10632832" cy="4293483"/>
          </a:xfrm>
          <a:prstGeom prst="rect">
            <a:avLst/>
          </a:prstGeom>
          <a:noFill/>
        </p:spPr>
        <p:txBody>
          <a:bodyPr wrap="square" rtlCol="0">
            <a:spAutoFit/>
          </a:bodyPr>
          <a:lstStyle/>
          <a:p>
            <a:r>
              <a:rPr lang="en-GB" sz="2650" b="1" dirty="0">
                <a:latin typeface="Times New Roman" panose="02020603050405020304" pitchFamily="18" charset="0"/>
                <a:cs typeface="Times New Roman" panose="02020603050405020304" pitchFamily="18" charset="0"/>
              </a:rPr>
              <a:t>Title: Smart Segregation System</a:t>
            </a:r>
            <a:endParaRPr lang="en-GB" sz="2650" dirty="0">
              <a:latin typeface="Times New Roman" panose="02020603050405020304" pitchFamily="18" charset="0"/>
              <a:cs typeface="Times New Roman" panose="02020603050405020304" pitchFamily="18" charset="0"/>
            </a:endParaRPr>
          </a:p>
          <a:p>
            <a:r>
              <a:rPr lang="en-GB" sz="2650" b="1" dirty="0">
                <a:latin typeface="Times New Roman" panose="02020603050405020304" pitchFamily="18" charset="0"/>
                <a:cs typeface="Times New Roman" panose="02020603050405020304" pitchFamily="18" charset="0"/>
              </a:rPr>
              <a:t>Description: </a:t>
            </a:r>
            <a:r>
              <a:rPr lang="en-US" sz="2400" dirty="0"/>
              <a:t>Recent studies highlight the growing importance of smart waste segregation systems due to rapid urbanization and increasing waste generation. A study on IoT-based waste segregation systems explains that traditional waste handling leads to unhygienic conditions and health risks, and proposes automated segregation using sensors to reduce human effort and improve efficiency . Another research work on smart waste detection systems uses components like infrared sensors, inductive sensors, and microcontrollers to classify waste into different categories, showing that automation can significantly enhance accuracy and reduce manual errors.</a:t>
            </a:r>
          </a:p>
          <a:p>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5674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F30104-A9B9-AD6F-9B3A-1B5B946C9F43}"/>
              </a:ext>
            </a:extLst>
          </p:cNvPr>
          <p:cNvSpPr txBox="1"/>
          <p:nvPr/>
        </p:nvSpPr>
        <p:spPr>
          <a:xfrm>
            <a:off x="609599" y="457200"/>
            <a:ext cx="11160369" cy="1135888"/>
          </a:xfrm>
          <a:prstGeom prst="rect">
            <a:avLst/>
          </a:prstGeom>
          <a:noFill/>
        </p:spPr>
        <p:txBody>
          <a:bodyPr wrap="square">
            <a:spAutoFit/>
          </a:bodyPr>
          <a:lstStyle/>
          <a:p>
            <a:pPr marL="285750" indent="-285750">
              <a:lnSpc>
                <a:spcPct val="200000"/>
              </a:lnSpc>
              <a:buClr>
                <a:schemeClr val="tx2"/>
              </a:buClr>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Limitations of Existing Algorithms/Methodologies</a:t>
            </a:r>
          </a:p>
        </p:txBody>
      </p:sp>
      <p:sp>
        <p:nvSpPr>
          <p:cNvPr id="4" name="TextBox 3">
            <a:extLst>
              <a:ext uri="{FF2B5EF4-FFF2-40B4-BE49-F238E27FC236}">
                <a16:creationId xmlns:a16="http://schemas.microsoft.com/office/drawing/2014/main" id="{C9B90A06-1DA9-8791-1EE8-3071022E3EB9}"/>
              </a:ext>
            </a:extLst>
          </p:cNvPr>
          <p:cNvSpPr txBox="1"/>
          <p:nvPr/>
        </p:nvSpPr>
        <p:spPr>
          <a:xfrm>
            <a:off x="744898" y="1593088"/>
            <a:ext cx="10456985" cy="2308324"/>
          </a:xfrm>
          <a:prstGeom prst="rect">
            <a:avLst/>
          </a:prstGeom>
          <a:noFill/>
        </p:spPr>
        <p:txBody>
          <a:bodyPr wrap="square" rtlCol="0">
            <a:spAutoFit/>
          </a:bodyPr>
          <a:lstStyle/>
          <a:p>
            <a:r>
              <a:rPr lang="en-IN" b="1" dirty="0"/>
              <a:t>Generic AI Limits:</a:t>
            </a:r>
            <a:r>
              <a:rPr lang="en-IN" dirty="0"/>
              <a:t> COCO-SSD lacks waste-specific classes, while traditional CNNs require massive datasets and struggle with multi-class items.</a:t>
            </a:r>
          </a:p>
          <a:p>
            <a:r>
              <a:rPr lang="en-IN" b="1" dirty="0"/>
              <a:t>Flawed Text Systems:</a:t>
            </a:r>
            <a:r>
              <a:rPr lang="en-IN" dirty="0"/>
              <a:t> Rule-based keyword models fail on regional synonyms, multi-word inputs, and context modifiers like "broken battery".</a:t>
            </a:r>
          </a:p>
          <a:p>
            <a:r>
              <a:rPr lang="en-IN" b="1" dirty="0"/>
              <a:t>IoT Flaws:</a:t>
            </a:r>
            <a:r>
              <a:rPr lang="en-IN" dirty="0"/>
              <a:t> Physical sensors suffer from high hardware costs, network dropouts, sensor drift (false readings), and unprioritized alerts.</a:t>
            </a:r>
          </a:p>
          <a:p>
            <a:r>
              <a:rPr lang="en-IN" b="1" dirty="0"/>
              <a:t>Dashboard Disconnect:</a:t>
            </a:r>
            <a:r>
              <a:rPr lang="en-IN" dirty="0"/>
              <a:t> Existing platforms are rarely open-source, lack role-based access, and fail to unify classification, monitoring, and reporting</a:t>
            </a:r>
          </a:p>
        </p:txBody>
      </p:sp>
    </p:spTree>
    <p:extLst>
      <p:ext uri="{BB962C8B-B14F-4D97-AF65-F5344CB8AC3E}">
        <p14:creationId xmlns:p14="http://schemas.microsoft.com/office/powerpoint/2010/main" val="3493946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98D5B9-691C-8A24-7C8F-2C5A1201D2B1}"/>
              </a:ext>
            </a:extLst>
          </p:cNvPr>
          <p:cNvSpPr txBox="1"/>
          <p:nvPr/>
        </p:nvSpPr>
        <p:spPr>
          <a:xfrm>
            <a:off x="668215" y="820614"/>
            <a:ext cx="6527065" cy="707886"/>
          </a:xfrm>
          <a:prstGeom prst="rect">
            <a:avLst/>
          </a:prstGeom>
          <a:noFill/>
        </p:spPr>
        <p:txBody>
          <a:bodyPr wrap="square" rtlCol="0">
            <a:spAutoFit/>
          </a:bodyPr>
          <a:lstStyle/>
          <a:p>
            <a:pPr marL="285750" indent="-285750">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Flowchart</a:t>
            </a:r>
            <a:endParaRPr lang="en-GB" sz="4000" dirty="0"/>
          </a:p>
        </p:txBody>
      </p:sp>
      <p:pic>
        <p:nvPicPr>
          <p:cNvPr id="1026" name="Picture 2">
            <a:extLst>
              <a:ext uri="{FF2B5EF4-FFF2-40B4-BE49-F238E27FC236}">
                <a16:creationId xmlns:a16="http://schemas.microsoft.com/office/drawing/2014/main" id="{17E4D8A6-B217-D757-964F-30FCF51197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5755" y="1903444"/>
            <a:ext cx="4628761" cy="4572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344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D1750A-278A-05E1-6D84-2610642A97C6}"/>
              </a:ext>
            </a:extLst>
          </p:cNvPr>
          <p:cNvSpPr txBox="1"/>
          <p:nvPr/>
        </p:nvSpPr>
        <p:spPr>
          <a:xfrm>
            <a:off x="634481" y="746450"/>
            <a:ext cx="3069772" cy="707886"/>
          </a:xfrm>
          <a:prstGeom prst="rect">
            <a:avLst/>
          </a:prstGeom>
          <a:noFill/>
        </p:spPr>
        <p:txBody>
          <a:bodyPr wrap="square" rtlCol="0">
            <a:spAutoFit/>
          </a:bodyPr>
          <a:lstStyle/>
          <a:p>
            <a:pPr marL="285750" indent="-285750">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Screenshots</a:t>
            </a:r>
            <a:endParaRPr lang="en-IN" sz="4000" dirty="0"/>
          </a:p>
        </p:txBody>
      </p:sp>
      <p:sp>
        <p:nvSpPr>
          <p:cNvPr id="6" name="TextBox 5">
            <a:extLst>
              <a:ext uri="{FF2B5EF4-FFF2-40B4-BE49-F238E27FC236}">
                <a16:creationId xmlns:a16="http://schemas.microsoft.com/office/drawing/2014/main" id="{B02FC0D6-75A8-70E0-3F0F-779F95D19A01}"/>
              </a:ext>
            </a:extLst>
          </p:cNvPr>
          <p:cNvSpPr txBox="1"/>
          <p:nvPr/>
        </p:nvSpPr>
        <p:spPr>
          <a:xfrm>
            <a:off x="5393094" y="6214188"/>
            <a:ext cx="1894114" cy="461665"/>
          </a:xfrm>
          <a:prstGeom prst="rect">
            <a:avLst/>
          </a:prstGeom>
          <a:noFill/>
        </p:spPr>
        <p:txBody>
          <a:bodyPr wrap="square" rtlCol="0">
            <a:spAutoFit/>
          </a:bodyPr>
          <a:lstStyle/>
          <a:p>
            <a:r>
              <a:rPr lang="en-GB" sz="2400" dirty="0">
                <a:latin typeface="Times New Roman" panose="02020603050405020304" pitchFamily="18" charset="0"/>
                <a:cs typeface="Times New Roman" panose="02020603050405020304" pitchFamily="18" charset="0"/>
              </a:rPr>
              <a:t>Sign In Page</a:t>
            </a:r>
            <a:endParaRPr lang="en-IN" sz="2400" dirty="0"/>
          </a:p>
        </p:txBody>
      </p:sp>
      <p:pic>
        <p:nvPicPr>
          <p:cNvPr id="4" name="Picture 3">
            <a:extLst>
              <a:ext uri="{FF2B5EF4-FFF2-40B4-BE49-F238E27FC236}">
                <a16:creationId xmlns:a16="http://schemas.microsoft.com/office/drawing/2014/main" id="{9232FDEA-E0D8-615A-6A19-4C2734A383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375" y="1614197"/>
            <a:ext cx="10070529" cy="4152121"/>
          </a:xfrm>
          <a:prstGeom prst="rect">
            <a:avLst/>
          </a:prstGeom>
        </p:spPr>
      </p:pic>
    </p:spTree>
    <p:extLst>
      <p:ext uri="{BB962C8B-B14F-4D97-AF65-F5344CB8AC3E}">
        <p14:creationId xmlns:p14="http://schemas.microsoft.com/office/powerpoint/2010/main" val="984921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05C824-A397-9680-4DBD-40EBCBD3204E}"/>
              </a:ext>
            </a:extLst>
          </p:cNvPr>
          <p:cNvSpPr txBox="1"/>
          <p:nvPr/>
        </p:nvSpPr>
        <p:spPr>
          <a:xfrm>
            <a:off x="625151" y="877078"/>
            <a:ext cx="3135086" cy="707886"/>
          </a:xfrm>
          <a:prstGeom prst="rect">
            <a:avLst/>
          </a:prstGeom>
          <a:noFill/>
        </p:spPr>
        <p:txBody>
          <a:bodyPr wrap="square" rtlCol="0">
            <a:spAutoFit/>
          </a:bodyPr>
          <a:lstStyle/>
          <a:p>
            <a:pPr marL="285750" indent="-285750">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Screenshots</a:t>
            </a:r>
            <a:endParaRPr lang="en-IN" sz="4000" dirty="0"/>
          </a:p>
        </p:txBody>
      </p:sp>
      <p:sp>
        <p:nvSpPr>
          <p:cNvPr id="5" name="TextBox 4">
            <a:extLst>
              <a:ext uri="{FF2B5EF4-FFF2-40B4-BE49-F238E27FC236}">
                <a16:creationId xmlns:a16="http://schemas.microsoft.com/office/drawing/2014/main" id="{9B7350D2-291D-D69B-1FE1-44AEE2DE0306}"/>
              </a:ext>
            </a:extLst>
          </p:cNvPr>
          <p:cNvSpPr txBox="1"/>
          <p:nvPr/>
        </p:nvSpPr>
        <p:spPr>
          <a:xfrm>
            <a:off x="4711958" y="6288833"/>
            <a:ext cx="2817845" cy="461665"/>
          </a:xfrm>
          <a:prstGeom prst="rect">
            <a:avLst/>
          </a:prstGeom>
          <a:noFill/>
        </p:spPr>
        <p:txBody>
          <a:bodyPr wrap="square" rtlCol="0">
            <a:spAutoFit/>
          </a:bodyPr>
          <a:lstStyle/>
          <a:p>
            <a:r>
              <a:rPr lang="en-GB" sz="2400" dirty="0">
                <a:latin typeface="Times New Roman" panose="02020603050405020304" pitchFamily="18" charset="0"/>
                <a:cs typeface="Times New Roman" panose="02020603050405020304" pitchFamily="18" charset="0"/>
              </a:rPr>
              <a:t>Admin Dashboard</a:t>
            </a:r>
            <a:endParaRPr lang="en-IN" sz="2400" dirty="0"/>
          </a:p>
        </p:txBody>
      </p:sp>
      <p:pic>
        <p:nvPicPr>
          <p:cNvPr id="6" name="Picture 5">
            <a:extLst>
              <a:ext uri="{FF2B5EF4-FFF2-40B4-BE49-F238E27FC236}">
                <a16:creationId xmlns:a16="http://schemas.microsoft.com/office/drawing/2014/main" id="{4749BAEF-1A21-2DAB-1992-EA9937557C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151" y="1664709"/>
            <a:ext cx="10608905" cy="4596133"/>
          </a:xfrm>
          <a:prstGeom prst="rect">
            <a:avLst/>
          </a:prstGeom>
        </p:spPr>
      </p:pic>
    </p:spTree>
    <p:extLst>
      <p:ext uri="{BB962C8B-B14F-4D97-AF65-F5344CB8AC3E}">
        <p14:creationId xmlns:p14="http://schemas.microsoft.com/office/powerpoint/2010/main" val="1446965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341A04-F9AF-1097-53E5-FD25394258F2}"/>
              </a:ext>
            </a:extLst>
          </p:cNvPr>
          <p:cNvSpPr txBox="1"/>
          <p:nvPr/>
        </p:nvSpPr>
        <p:spPr>
          <a:xfrm>
            <a:off x="634482" y="755780"/>
            <a:ext cx="3116424" cy="707886"/>
          </a:xfrm>
          <a:prstGeom prst="rect">
            <a:avLst/>
          </a:prstGeom>
          <a:noFill/>
        </p:spPr>
        <p:txBody>
          <a:bodyPr wrap="square" rtlCol="0">
            <a:spAutoFit/>
          </a:bodyPr>
          <a:lstStyle/>
          <a:p>
            <a:pPr marL="285750" indent="-285750">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Screenshots</a:t>
            </a:r>
            <a:endParaRPr lang="en-IN" sz="4000" dirty="0"/>
          </a:p>
        </p:txBody>
      </p:sp>
      <p:sp>
        <p:nvSpPr>
          <p:cNvPr id="5" name="TextBox 4">
            <a:extLst>
              <a:ext uri="{FF2B5EF4-FFF2-40B4-BE49-F238E27FC236}">
                <a16:creationId xmlns:a16="http://schemas.microsoft.com/office/drawing/2014/main" id="{78A909E9-2C40-660C-EE65-79FD880226AE}"/>
              </a:ext>
            </a:extLst>
          </p:cNvPr>
          <p:cNvSpPr txBox="1"/>
          <p:nvPr/>
        </p:nvSpPr>
        <p:spPr>
          <a:xfrm>
            <a:off x="4422710" y="6167536"/>
            <a:ext cx="2677886" cy="461665"/>
          </a:xfrm>
          <a:prstGeom prst="rect">
            <a:avLst/>
          </a:prstGeom>
          <a:noFill/>
        </p:spPr>
        <p:txBody>
          <a:bodyPr wrap="square" rtlCol="0">
            <a:spAutoFit/>
          </a:bodyPr>
          <a:lstStyle/>
          <a:p>
            <a:r>
              <a:rPr lang="en-GB" sz="2400" dirty="0">
                <a:latin typeface="Times New Roman" panose="02020603050405020304" pitchFamily="18" charset="0"/>
                <a:cs typeface="Times New Roman" panose="02020603050405020304" pitchFamily="18" charset="0"/>
              </a:rPr>
              <a:t>AI Model Training</a:t>
            </a:r>
            <a:endParaRPr lang="en-IN" sz="2400" dirty="0"/>
          </a:p>
        </p:txBody>
      </p:sp>
      <p:pic>
        <p:nvPicPr>
          <p:cNvPr id="6" name="Picture 5">
            <a:extLst>
              <a:ext uri="{FF2B5EF4-FFF2-40B4-BE49-F238E27FC236}">
                <a16:creationId xmlns:a16="http://schemas.microsoft.com/office/drawing/2014/main" id="{F1EDBB9F-2BA7-F1D8-F3A5-4ADEFAED1A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102" y="1567543"/>
            <a:ext cx="10571584" cy="4599993"/>
          </a:xfrm>
          <a:prstGeom prst="rect">
            <a:avLst/>
          </a:prstGeom>
        </p:spPr>
      </p:pic>
    </p:spTree>
    <p:extLst>
      <p:ext uri="{BB962C8B-B14F-4D97-AF65-F5344CB8AC3E}">
        <p14:creationId xmlns:p14="http://schemas.microsoft.com/office/powerpoint/2010/main" val="1185426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B6A7EF-B0F7-D6C1-B064-96145854E411}"/>
              </a:ext>
            </a:extLst>
          </p:cNvPr>
          <p:cNvSpPr txBox="1"/>
          <p:nvPr/>
        </p:nvSpPr>
        <p:spPr>
          <a:xfrm>
            <a:off x="733926" y="565483"/>
            <a:ext cx="11129828" cy="1135888"/>
          </a:xfrm>
          <a:prstGeom prst="rect">
            <a:avLst/>
          </a:prstGeom>
          <a:noFill/>
        </p:spPr>
        <p:txBody>
          <a:bodyPr wrap="square">
            <a:spAutoFit/>
          </a:bodyPr>
          <a:lstStyle/>
          <a:p>
            <a:pPr marL="285750" indent="-285750">
              <a:lnSpc>
                <a:spcPct val="200000"/>
              </a:lnSpc>
              <a:buClr>
                <a:schemeClr val="tx2"/>
              </a:buClr>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Hardware/Software Requirements</a:t>
            </a:r>
          </a:p>
        </p:txBody>
      </p:sp>
      <p:sp>
        <p:nvSpPr>
          <p:cNvPr id="5" name="TextBox 4">
            <a:extLst>
              <a:ext uri="{FF2B5EF4-FFF2-40B4-BE49-F238E27FC236}">
                <a16:creationId xmlns:a16="http://schemas.microsoft.com/office/drawing/2014/main" id="{ECFA624B-150F-1C99-BFDE-81498CA47F31}"/>
              </a:ext>
            </a:extLst>
          </p:cNvPr>
          <p:cNvSpPr txBox="1"/>
          <p:nvPr/>
        </p:nvSpPr>
        <p:spPr>
          <a:xfrm>
            <a:off x="1113692" y="1606062"/>
            <a:ext cx="12367846" cy="2412712"/>
          </a:xfrm>
          <a:prstGeom prst="rect">
            <a:avLst/>
          </a:prstGeom>
          <a:noFill/>
        </p:spPr>
        <p:txBody>
          <a:bodyPr wrap="square">
            <a:spAutoFit/>
          </a:bodyPr>
          <a:lstStyle/>
          <a:p>
            <a:pPr marL="12700" marR="2317115">
              <a:lnSpc>
                <a:spcPct val="115100"/>
              </a:lnSpc>
              <a:spcBef>
                <a:spcPts val="100"/>
              </a:spcBef>
            </a:pPr>
            <a:endParaRPr lang="en-IN" sz="2800" b="1" u="sng" spc="65" dirty="0">
              <a:latin typeface="Times New Roman" panose="02020603050405020304" pitchFamily="18" charset="0"/>
              <a:cs typeface="Times New Roman" panose="02020603050405020304" pitchFamily="18" charset="0"/>
            </a:endParaRPr>
          </a:p>
          <a:p>
            <a:pPr marL="12700" marR="2317115">
              <a:lnSpc>
                <a:spcPct val="115100"/>
              </a:lnSpc>
              <a:spcBef>
                <a:spcPts val="100"/>
              </a:spcBef>
            </a:pPr>
            <a:r>
              <a:rPr lang="en-IN" sz="2800" b="1" u="sng" spc="65" dirty="0">
                <a:latin typeface="Times New Roman" panose="02020603050405020304" pitchFamily="18" charset="0"/>
                <a:cs typeface="Times New Roman" panose="02020603050405020304" pitchFamily="18" charset="0"/>
              </a:rPr>
              <a:t>Hardware Requirements:</a:t>
            </a:r>
            <a:endParaRPr lang="en-US" altLang="en-GB" sz="2400" b="1" dirty="0"/>
          </a:p>
          <a:p>
            <a:pPr>
              <a:lnSpc>
                <a:spcPct val="50000"/>
              </a:lnSpc>
            </a:pPr>
            <a:endParaRPr lang="en-US" altLang="en-GB" sz="2400" b="1" dirty="0"/>
          </a:p>
          <a:p>
            <a:pPr>
              <a:lnSpc>
                <a:spcPct val="50000"/>
              </a:lnSpc>
            </a:pPr>
            <a:endParaRPr lang="en-US" altLang="en-GB" sz="2400" b="1" dirty="0"/>
          </a:p>
          <a:p>
            <a:pPr>
              <a:lnSpc>
                <a:spcPct val="50000"/>
              </a:lnSpc>
            </a:pPr>
            <a:r>
              <a:rPr lang="en-US" altLang="en-GB" sz="2400" b="1" dirty="0"/>
              <a:t>Processor:</a:t>
            </a:r>
            <a:r>
              <a:rPr lang="en-US" altLang="en-GB" sz="2400" dirty="0"/>
              <a:t> Intel i3 / AMD Ryzen 3 or above</a:t>
            </a:r>
          </a:p>
          <a:p>
            <a:pPr>
              <a:lnSpc>
                <a:spcPct val="50000"/>
              </a:lnSpc>
            </a:pPr>
            <a:endParaRPr lang="en-US" altLang="en-GB" sz="2400" b="1" dirty="0"/>
          </a:p>
          <a:p>
            <a:pPr>
              <a:lnSpc>
                <a:spcPct val="50000"/>
              </a:lnSpc>
            </a:pPr>
            <a:r>
              <a:rPr lang="en-US" altLang="en-GB" sz="2400" b="1" dirty="0"/>
              <a:t>RAM: </a:t>
            </a:r>
            <a:r>
              <a:rPr lang="en-US" altLang="en-GB" sz="2400" dirty="0"/>
              <a:t>Minimum 4 GB (8 GB recommended)</a:t>
            </a:r>
          </a:p>
          <a:p>
            <a:pPr>
              <a:lnSpc>
                <a:spcPct val="50000"/>
              </a:lnSpc>
            </a:pPr>
            <a:endParaRPr lang="en-US" altLang="en-GB" sz="2400" b="1" dirty="0"/>
          </a:p>
          <a:p>
            <a:pPr>
              <a:lnSpc>
                <a:spcPct val="50000"/>
              </a:lnSpc>
            </a:pPr>
            <a:r>
              <a:rPr lang="en-US" altLang="en-GB" sz="2400" b="1" dirty="0"/>
              <a:t>Storage: </a:t>
            </a:r>
            <a:r>
              <a:rPr lang="en-US" altLang="en-GB" sz="2400" dirty="0"/>
              <a:t>At least 50 GB free disk space </a:t>
            </a:r>
          </a:p>
        </p:txBody>
      </p:sp>
    </p:spTree>
    <p:extLst>
      <p:ext uri="{BB962C8B-B14F-4D97-AF65-F5344CB8AC3E}">
        <p14:creationId xmlns:p14="http://schemas.microsoft.com/office/powerpoint/2010/main" val="2290124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86DEAE-B138-1706-BC61-69312E8758D0}"/>
              </a:ext>
            </a:extLst>
          </p:cNvPr>
          <p:cNvSpPr txBox="1"/>
          <p:nvPr/>
        </p:nvSpPr>
        <p:spPr>
          <a:xfrm>
            <a:off x="644769" y="527537"/>
            <a:ext cx="10257693" cy="1135888"/>
          </a:xfrm>
          <a:prstGeom prst="rect">
            <a:avLst/>
          </a:prstGeom>
          <a:noFill/>
        </p:spPr>
        <p:txBody>
          <a:bodyPr wrap="square">
            <a:spAutoFit/>
          </a:bodyPr>
          <a:lstStyle/>
          <a:p>
            <a:pPr marL="285750" indent="-285750">
              <a:lnSpc>
                <a:spcPct val="200000"/>
              </a:lnSpc>
              <a:buClr>
                <a:schemeClr val="tx2"/>
              </a:buClr>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Hardware/Software Requirements</a:t>
            </a:r>
          </a:p>
        </p:txBody>
      </p:sp>
      <p:sp>
        <p:nvSpPr>
          <p:cNvPr id="5" name="TextBox 4">
            <a:extLst>
              <a:ext uri="{FF2B5EF4-FFF2-40B4-BE49-F238E27FC236}">
                <a16:creationId xmlns:a16="http://schemas.microsoft.com/office/drawing/2014/main" id="{C839C3E0-4482-2B99-E9F3-37C9DCE13AF0}"/>
              </a:ext>
            </a:extLst>
          </p:cNvPr>
          <p:cNvSpPr txBox="1"/>
          <p:nvPr/>
        </p:nvSpPr>
        <p:spPr>
          <a:xfrm>
            <a:off x="1195754" y="2121877"/>
            <a:ext cx="10703169" cy="3143874"/>
          </a:xfrm>
          <a:prstGeom prst="rect">
            <a:avLst/>
          </a:prstGeom>
          <a:noFill/>
        </p:spPr>
        <p:txBody>
          <a:bodyPr wrap="square">
            <a:spAutoFit/>
          </a:bodyPr>
          <a:lstStyle/>
          <a:p>
            <a:pPr>
              <a:lnSpc>
                <a:spcPct val="50000"/>
              </a:lnSpc>
            </a:pPr>
            <a:r>
              <a:rPr lang="en-IN" sz="2800" b="1" u="sng" spc="65" dirty="0">
                <a:latin typeface="Times New Roman" panose="02020603050405020304" pitchFamily="18" charset="0"/>
                <a:cs typeface="Times New Roman" panose="02020603050405020304" pitchFamily="18" charset="0"/>
              </a:rPr>
              <a:t>Software Requirements:</a:t>
            </a:r>
            <a:endParaRPr lang="en-US" altLang="en-GB" sz="2800" dirty="0"/>
          </a:p>
          <a:p>
            <a:pPr>
              <a:lnSpc>
                <a:spcPct val="50000"/>
              </a:lnSpc>
            </a:pPr>
            <a:endParaRPr lang="en-US" altLang="en-GB" sz="2800" b="1" dirty="0"/>
          </a:p>
          <a:p>
            <a:pPr>
              <a:lnSpc>
                <a:spcPct val="50000"/>
              </a:lnSpc>
            </a:pPr>
            <a:endParaRPr lang="en-US" altLang="en-GB" sz="2800" dirty="0"/>
          </a:p>
          <a:p>
            <a:pPr>
              <a:lnSpc>
                <a:spcPct val="50000"/>
              </a:lnSpc>
            </a:pPr>
            <a:r>
              <a:rPr lang="en-US" altLang="en-GB" sz="2800" b="1" dirty="0"/>
              <a:t>Operating System: </a:t>
            </a:r>
            <a:r>
              <a:rPr lang="en-US" altLang="en-GB" sz="2800" dirty="0"/>
              <a:t>Windows , Linux, or macOS</a:t>
            </a:r>
          </a:p>
          <a:p>
            <a:pPr>
              <a:lnSpc>
                <a:spcPct val="50000"/>
              </a:lnSpc>
            </a:pPr>
            <a:endParaRPr lang="en-US" altLang="en-GB" sz="2800" b="1" dirty="0"/>
          </a:p>
          <a:p>
            <a:pPr>
              <a:lnSpc>
                <a:spcPct val="50000"/>
              </a:lnSpc>
            </a:pPr>
            <a:r>
              <a:rPr lang="en-US" altLang="en-GB" sz="2800" b="1" dirty="0"/>
              <a:t>Database: </a:t>
            </a:r>
            <a:r>
              <a:rPr lang="en-US" altLang="en-GB" sz="2800" dirty="0"/>
              <a:t>MySQL </a:t>
            </a:r>
          </a:p>
          <a:p>
            <a:pPr>
              <a:lnSpc>
                <a:spcPct val="50000"/>
              </a:lnSpc>
            </a:pPr>
            <a:endParaRPr lang="en-US" altLang="en-GB" sz="2800" dirty="0"/>
          </a:p>
          <a:p>
            <a:pPr>
              <a:lnSpc>
                <a:spcPct val="50000"/>
              </a:lnSpc>
            </a:pPr>
            <a:r>
              <a:rPr lang="en-US" altLang="en-GB" sz="2800" b="1" dirty="0"/>
              <a:t>BACKEND:</a:t>
            </a:r>
            <a:r>
              <a:rPr lang="en-US" altLang="en-GB" sz="2800" dirty="0"/>
              <a:t>JAVA</a:t>
            </a:r>
          </a:p>
          <a:p>
            <a:pPr>
              <a:lnSpc>
                <a:spcPct val="50000"/>
              </a:lnSpc>
            </a:pPr>
            <a:endParaRPr lang="en-US" altLang="en-GB" sz="2800" dirty="0"/>
          </a:p>
          <a:p>
            <a:pPr>
              <a:lnSpc>
                <a:spcPct val="50000"/>
              </a:lnSpc>
            </a:pPr>
            <a:r>
              <a:rPr lang="en-US" altLang="en-GB" sz="2800" b="1" dirty="0"/>
              <a:t>Machine Learning Libraries: </a:t>
            </a:r>
            <a:r>
              <a:rPr lang="en-US" altLang="en-GB" sz="2800" dirty="0"/>
              <a:t>Scikit-learn, TensorFlow, or Pandas</a:t>
            </a:r>
          </a:p>
          <a:p>
            <a:pPr>
              <a:lnSpc>
                <a:spcPct val="50000"/>
              </a:lnSpc>
            </a:pPr>
            <a:endParaRPr lang="en-US" altLang="en-GB" sz="2800" b="1" dirty="0"/>
          </a:p>
          <a:p>
            <a:pPr>
              <a:lnSpc>
                <a:spcPct val="50000"/>
              </a:lnSpc>
            </a:pPr>
            <a:r>
              <a:rPr lang="en-US" altLang="en-GB" sz="2800" b="1" dirty="0"/>
              <a:t>Frontend Technologies: </a:t>
            </a:r>
            <a:r>
              <a:rPr lang="en-US" altLang="en-GB" sz="2800" dirty="0"/>
              <a:t>HTML, CSS, JavaScript</a:t>
            </a:r>
          </a:p>
          <a:p>
            <a:pPr marL="12700" marR="2317115">
              <a:lnSpc>
                <a:spcPct val="115100"/>
              </a:lnSpc>
              <a:spcBef>
                <a:spcPts val="100"/>
              </a:spcBef>
            </a:pPr>
            <a:endParaRPr lang="en-IN" sz="2800" spc="65" dirty="0">
              <a:latin typeface="Arial (Body)"/>
              <a:cs typeface="Times New Roman"/>
            </a:endParaRPr>
          </a:p>
        </p:txBody>
      </p:sp>
    </p:spTree>
    <p:extLst>
      <p:ext uri="{BB962C8B-B14F-4D97-AF65-F5344CB8AC3E}">
        <p14:creationId xmlns:p14="http://schemas.microsoft.com/office/powerpoint/2010/main" val="939297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D3FF9C-96BF-48AE-03FE-482DFB34DA49}"/>
              </a:ext>
            </a:extLst>
          </p:cNvPr>
          <p:cNvSpPr txBox="1"/>
          <p:nvPr/>
        </p:nvSpPr>
        <p:spPr>
          <a:xfrm>
            <a:off x="650296" y="440616"/>
            <a:ext cx="6096964" cy="1135888"/>
          </a:xfrm>
          <a:prstGeom prst="rect">
            <a:avLst/>
          </a:prstGeom>
          <a:noFill/>
        </p:spPr>
        <p:txBody>
          <a:bodyPr wrap="square">
            <a:spAutoFit/>
          </a:bodyPr>
          <a:lstStyle/>
          <a:p>
            <a:pPr marL="285750" indent="-285750">
              <a:lnSpc>
                <a:spcPct val="200000"/>
              </a:lnSpc>
              <a:buClr>
                <a:schemeClr val="tx2"/>
              </a:buClr>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A99F0FA5-8566-F286-C635-B7C54E23682D}"/>
              </a:ext>
            </a:extLst>
          </p:cNvPr>
          <p:cNvSpPr txBox="1"/>
          <p:nvPr/>
        </p:nvSpPr>
        <p:spPr>
          <a:xfrm>
            <a:off x="855676" y="1576504"/>
            <a:ext cx="10686027" cy="3693319"/>
          </a:xfrm>
          <a:prstGeom prst="rect">
            <a:avLst/>
          </a:prstGeom>
          <a:noFill/>
        </p:spPr>
        <p:txBody>
          <a:bodyPr wrap="square">
            <a:spAutoFit/>
          </a:bodyPr>
          <a:lstStyle/>
          <a:p>
            <a:r>
              <a:rPr lang="en-IN" dirty="0"/>
              <a:t>The Smart Segregation System successfully demonstrates how combining modern software engineering and artificial intelligence can address critical environmental challenges in waste management. By building a clean full-stack Single Page Application using a Java backend, an HTML/CSS/JS frontend, and a persistent MySQL database with secure session management, the project establishes a highly responsive, unified ecosystem.</a:t>
            </a:r>
          </a:p>
          <a:p>
            <a:r>
              <a:rPr lang="en-IN" dirty="0"/>
              <a:t>Key milestones achieved include a real-time IoT simulation managing 10 smart bins across 5 zones with frequent status updates, alongside a robust AI classification engine utilizing over 100 keyword mappings and intelligent screenshot detection to maintain high accuracy and prevent false positives.</a:t>
            </a:r>
          </a:p>
          <a:p>
            <a:r>
              <a:rPr lang="en-IN" dirty="0"/>
              <a:t>Moving forward, the system is well-positioned for future expansion. Transitioning from simulated environments to physical IoT hardware via the MQTT protocol, and replacing generic object detection models with a custom-trained YOLOv8 model dedicated strictly to waste materials, will elevate this platform from a powerful prototype to a production-ready, real-world deployment.</a:t>
            </a:r>
          </a:p>
          <a:p>
            <a:endParaRPr lang="en-IN" dirty="0"/>
          </a:p>
        </p:txBody>
      </p:sp>
    </p:spTree>
    <p:extLst>
      <p:ext uri="{BB962C8B-B14F-4D97-AF65-F5344CB8AC3E}">
        <p14:creationId xmlns:p14="http://schemas.microsoft.com/office/powerpoint/2010/main" val="1080469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593E-9CCE-4C44-9E3C-FD98DFA0D334}"/>
              </a:ext>
            </a:extLst>
          </p:cNvPr>
          <p:cNvSpPr>
            <a:spLocks noGrp="1"/>
          </p:cNvSpPr>
          <p:nvPr>
            <p:ph type="title"/>
          </p:nvPr>
        </p:nvSpPr>
        <p:spPr>
          <a:xfrm>
            <a:off x="684212" y="275208"/>
            <a:ext cx="11140844" cy="6098959"/>
          </a:xfrm>
        </p:spPr>
        <p:txBody>
          <a:bodyPr>
            <a:normAutofit/>
          </a:bodyPr>
          <a:lstStyle/>
          <a:p>
            <a:pPr algn="ctr"/>
            <a:r>
              <a:rPr lang="en-US" sz="6600" b="1" dirty="0">
                <a:solidFill>
                  <a:schemeClr val="tx1"/>
                </a:solidFill>
                <a:latin typeface="Calibri" panose="020F0502020204030204" pitchFamily="34" charset="0"/>
                <a:cs typeface="Calibri" panose="020F0502020204030204" pitchFamily="34" charset="0"/>
              </a:rPr>
              <a:t>THANK YOU</a:t>
            </a:r>
            <a:endParaRPr lang="en-IN" sz="66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29121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Clarity</Template>
  <TotalTime>723</TotalTime>
  <Words>921</Words>
  <Application>Microsoft Office PowerPoint</Application>
  <PresentationFormat>Widescreen</PresentationFormat>
  <Paragraphs>64</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(Body)</vt:lpstr>
      <vt:lpstr>Calibri</vt:lpstr>
      <vt:lpstr>Times New Roman</vt:lpstr>
      <vt:lpstr>Wingdings</vt:lpstr>
      <vt:lpstr>Clarity</vt:lpstr>
      <vt:lpstr>                                                                                                  Department of Computer Science &amp; Engineering                Smart Segregation System                                                                                                                                                                    Batch no. 11                                                                                                                                               1.  2411CS010625(B.Shravani Reddy)                                                                                                                                               2.  2411CS010637(K.Yuvaraj Singh)                                                                                                                      3.  2411CS010657 (G.Dineep Chandra)                    4.  2411CS010663(S.Sandeep Reddy)                                                                                                                                                                                 5.2411CS010670(J.Sangeetha)  </vt:lpstr>
      <vt:lpstr>Table of 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TALLA PADMAVATHI COLLEGE OF Engineering                       SOMIDI, KAZIPET, WARANGAL.       Department of electronics and communication engineering   Research area : VLSI                             Specific area of research: LOW POWER VLSIDESIGN     Proposed title name of the project:                    AN APC-COM BASED LUT OPTIMIZATION FOR DSP APPLICATIONS                                                                                                                                                           Batch no.1                                                                                                                                                                  1. 18UC1A0420 (N.Sravani)                                                                                                                                                                  2.18UC1A0401 (A.Swapna)                                                                                                                                3.18UC1A0428 (T.Satvika)                                                                                                                                                               4.17UC1A0405(E.Mahesh)</dc:title>
  <dc:creator>sravani neelam</dc:creator>
  <cp:lastModifiedBy>Yuvaraj Singh</cp:lastModifiedBy>
  <cp:revision>52</cp:revision>
  <dcterms:created xsi:type="dcterms:W3CDTF">2021-11-21T08:56:41Z</dcterms:created>
  <dcterms:modified xsi:type="dcterms:W3CDTF">2026-07-16T08:43:25Z</dcterms:modified>
</cp:coreProperties>
</file>