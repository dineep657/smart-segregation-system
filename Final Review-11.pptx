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8"/>
  </p:notesMasterIdLst>
  <p:sldIdLst>
    <p:sldId id="261" r:id="rId2"/>
    <p:sldId id="265" r:id="rId3"/>
    <p:sldId id="266" r:id="rId4"/>
    <p:sldId id="269" r:id="rId5"/>
    <p:sldId id="267" r:id="rId6"/>
    <p:sldId id="268" r:id="rId7"/>
    <p:sldId id="273" r:id="rId8"/>
    <p:sldId id="274" r:id="rId9"/>
    <p:sldId id="281" r:id="rId10"/>
    <p:sldId id="284" r:id="rId11"/>
    <p:sldId id="282" r:id="rId12"/>
    <p:sldId id="283" r:id="rId13"/>
    <p:sldId id="271" r:id="rId14"/>
    <p:sldId id="270" r:id="rId15"/>
    <p:sldId id="272" r:id="rId16"/>
    <p:sldId id="26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F5A089-6209-496B-91DB-7B5CDF6CBCEB}" v="24" dt="2025-11-04T05:54:32.0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01841F-C15C-4C9B-B473-DC668B8CE355}"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B18F9D-DE56-4FBE-9B7A-5DC9924ED673}" type="slidenum">
              <a:rPr lang="en-US" smtClean="0"/>
              <a:t>‹#›</a:t>
            </a:fld>
            <a:endParaRPr lang="en-US"/>
          </a:p>
        </p:txBody>
      </p:sp>
    </p:spTree>
    <p:extLst>
      <p:ext uri="{BB962C8B-B14F-4D97-AF65-F5344CB8AC3E}">
        <p14:creationId xmlns:p14="http://schemas.microsoft.com/office/powerpoint/2010/main" val="1269797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01-04-2026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01-04-2026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01-04-2026</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FAB-946D-4828-BEB0-01F20722E9B4}"/>
              </a:ext>
            </a:extLst>
          </p:cNvPr>
          <p:cNvSpPr>
            <a:spLocks noGrp="1"/>
          </p:cNvSpPr>
          <p:nvPr>
            <p:ph type="title"/>
          </p:nvPr>
        </p:nvSpPr>
        <p:spPr>
          <a:xfrm>
            <a:off x="92597" y="97654"/>
            <a:ext cx="12014522" cy="6661960"/>
          </a:xfrm>
        </p:spPr>
        <p:txBody>
          <a:bodyPr>
            <a:normAutofit/>
          </a:bodyPr>
          <a:lstStyle/>
          <a:p>
            <a:pPr marR="441960">
              <a:spcBef>
                <a:spcPts val="445"/>
              </a:spcBef>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Computer Science </a:t>
            </a:r>
            <a:r>
              <a:rPr lang="en-US" sz="1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&amp;</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Engineering</a:t>
            </a:r>
            <a:b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Smart Segregation System</a:t>
            </a:r>
            <a:br>
              <a:rPr lang="en-US"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Batch no. 11</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1.  2411CS010462(</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P.Venu</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Kumar)</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2.  2411CS010533(</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T.Manipal</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Reddy)</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3.  2411CS010625 (</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B.Shravani</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Reddy)</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4.  2411CS010322(</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M.Srishanth</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6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Guide</a:t>
            </a:r>
            <a:br>
              <a:rPr lang="en-IN" sz="16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16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6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cap="none"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Mr</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s.Gandu</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Lavanya</a:t>
            </a: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tretch>
            <a:fillRect/>
          </a:stretch>
        </p:blipFill>
        <p:spPr>
          <a:xfrm>
            <a:off x="2707005" y="413971"/>
            <a:ext cx="6777990" cy="1145540"/>
          </a:xfrm>
          <a:prstGeom prst="rect">
            <a:avLst/>
          </a:prstGeom>
        </p:spPr>
      </p:pic>
      <p:sp>
        <p:nvSpPr>
          <p:cNvPr id="6" name="Text Box 6"/>
          <p:cNvSpPr txBox="1">
            <a:spLocks noChangeArrowheads="1"/>
          </p:cNvSpPr>
          <p:nvPr/>
        </p:nvSpPr>
        <p:spPr bwMode="auto">
          <a:xfrm>
            <a:off x="4506843" y="1252346"/>
            <a:ext cx="2753995" cy="3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7685158" y="906650"/>
            <a:ext cx="144018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Contents</a:t>
            </a:r>
            <a:endParaRPr lang="en-IN" dirty="0">
              <a:latin typeface="Times New Roman" panose="02020603050405020304" pitchFamily="18" charset="0"/>
              <a:cs typeface="Times New Roman" panose="02020603050405020304" pitchFamily="18" charset="0"/>
            </a:endParaRPr>
          </a:p>
        </p:txBody>
      </p:sp>
      <p:sp>
        <p:nvSpPr>
          <p:cNvPr id="3" name="TextBox 2"/>
          <p:cNvSpPr txBox="1"/>
          <p:nvPr/>
        </p:nvSpPr>
        <p:spPr>
          <a:xfrm>
            <a:off x="783771" y="1156996"/>
            <a:ext cx="10798628" cy="5909310"/>
          </a:xfrm>
          <a:prstGeom prst="rect">
            <a:avLst/>
          </a:prstGeom>
          <a:noFill/>
        </p:spPr>
        <p:txBody>
          <a:bodyPr wrap="square" rtlCol="0">
            <a:spAutoFit/>
          </a:bodyPr>
          <a:lstStyle/>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Introduction</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Abstract</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Literature Survey</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Limitations of Existing Algorithms/Methodologies</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Flowchart</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Architecture</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Screenshots Of Application</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Hardware/Software Requirements</a:t>
            </a:r>
          </a:p>
          <a:p>
            <a:pPr marL="285750" indent="-285750">
              <a:lnSpc>
                <a:spcPct val="200000"/>
              </a:lnSpc>
              <a:buClr>
                <a:schemeClr val="tx2"/>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Conclusion</a:t>
            </a:r>
          </a:p>
          <a:p>
            <a:endParaRPr lang="en-IN" dirty="0"/>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584D8-8605-9C34-DE15-B0B33C01463A}"/>
              </a:ext>
            </a:extLst>
          </p:cNvPr>
          <p:cNvSpPr txBox="1"/>
          <p:nvPr/>
        </p:nvSpPr>
        <p:spPr>
          <a:xfrm>
            <a:off x="597878" y="1465085"/>
            <a:ext cx="9987104" cy="6146298"/>
          </a:xfrm>
          <a:prstGeom prst="rect">
            <a:avLst/>
          </a:prstGeom>
          <a:noFill/>
        </p:spPr>
        <p:txBody>
          <a:bodyPr wrap="square">
            <a:spAutoFit/>
          </a:bodyPr>
          <a:lstStyle/>
          <a:p>
            <a:pPr algn="just"/>
            <a:r>
              <a:rPr lang="en-US" sz="2400" dirty="0"/>
              <a:t>An AI Smart Segregation System is an intelligent system that uses Artificial Intelligence (AI) and modern technologies to automatically separate different types of waste or materials. The main purpose of this system is to improve waste management by identifying and sorting items such as plastic, metal, paper, glass, and organic waste without human </a:t>
            </a:r>
            <a:r>
              <a:rPr lang="en-US" sz="2400" dirty="0" err="1"/>
              <a:t>effort.Traditional</a:t>
            </a:r>
            <a:r>
              <a:rPr lang="en-US" sz="2400" dirty="0"/>
              <a:t> waste segregation is usually done manually, which can be time-consuming, inefficient, and sometimes unsafe. With the help of AI technologies like machine learning, sensors, and image recognition, the smart segregation system can detect the type of material and place it in the correct category </a:t>
            </a:r>
            <a:r>
              <a:rPr lang="en-US" sz="2400" dirty="0" err="1"/>
              <a:t>automatically.The</a:t>
            </a:r>
            <a:r>
              <a:rPr lang="en-US" sz="2400" dirty="0"/>
              <a:t> system typically uses cameras, sensors, and automated mechanisms to analyze the waste. Once the material is recognized, the system directs it to the appropriate bin or container. This helps in reducing environmental pollution, improving recycling efficiency, and saving time and labor.</a:t>
            </a:r>
          </a:p>
          <a:p>
            <a:pPr algn="just"/>
            <a:endParaRPr lang="en-US" altLang="en-GB" sz="2800" dirty="0"/>
          </a:p>
          <a:p>
            <a:pPr marL="12700" marR="5080" indent="1087120" algn="just">
              <a:lnSpc>
                <a:spcPct val="110400"/>
              </a:lnSpc>
              <a:spcBef>
                <a:spcPts val="100"/>
              </a:spcBef>
            </a:pPr>
            <a:endParaRPr lang="en-US" sz="2800" dirty="0">
              <a:solidFill>
                <a:schemeClr val="bg2">
                  <a:lumMod val="10000"/>
                </a:schemeClr>
              </a:solidFill>
              <a:latin typeface="Times New Roman" panose="02020603050405020304" pitchFamily="18" charset="0"/>
              <a:ea typeface="Yu Gothic UI Semilight" panose="020B0400000000000000" pitchFamily="34" charset="-128"/>
              <a:cs typeface="Times New Roman" panose="02020603050405020304" pitchFamily="18" charset="0"/>
            </a:endParaRPr>
          </a:p>
        </p:txBody>
      </p:sp>
      <p:sp>
        <p:nvSpPr>
          <p:cNvPr id="5" name="TextBox 4">
            <a:extLst>
              <a:ext uri="{FF2B5EF4-FFF2-40B4-BE49-F238E27FC236}">
                <a16:creationId xmlns:a16="http://schemas.microsoft.com/office/drawing/2014/main" id="{47C32374-591D-A186-6506-D9EF41CA1032}"/>
              </a:ext>
            </a:extLst>
          </p:cNvPr>
          <p:cNvSpPr txBox="1"/>
          <p:nvPr/>
        </p:nvSpPr>
        <p:spPr>
          <a:xfrm>
            <a:off x="597878" y="205273"/>
            <a:ext cx="6200015"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361512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55F848-B4D6-379A-AE76-B464924159E7}"/>
              </a:ext>
            </a:extLst>
          </p:cNvPr>
          <p:cNvSpPr txBox="1"/>
          <p:nvPr/>
        </p:nvSpPr>
        <p:spPr>
          <a:xfrm>
            <a:off x="830424" y="1427585"/>
            <a:ext cx="10123714" cy="5262979"/>
          </a:xfrm>
          <a:prstGeom prst="rect">
            <a:avLst/>
          </a:prstGeom>
          <a:noFill/>
        </p:spPr>
        <p:txBody>
          <a:bodyPr wrap="square" rtlCol="0">
            <a:spAutoFit/>
          </a:bodyPr>
          <a:lstStyle/>
          <a:p>
            <a:r>
              <a:rPr lang="en-IN" sz="2400" dirty="0"/>
              <a:t>The AI Smart Segregation System is an intelligent solution designed to automatically separate different types of waste using artificial intelligence and machine learning techniques. Waste management is a major environmental challenge, and manual segregation is time-consuming, inefficient, and prone to human error. This system aims to improve the efficiency and accuracy of waste sorting by using image processing and AI </a:t>
            </a:r>
            <a:r>
              <a:rPr lang="en-IN" sz="2400" dirty="0" err="1"/>
              <a:t>algorithms.In</a:t>
            </a:r>
            <a:r>
              <a:rPr lang="en-IN" sz="2400" dirty="0"/>
              <a:t> this system, a camera captures images of waste items placed on a conveyor or input area. The captured images are processed using a trained machine learning or deep learning model that identifies the type of waste such as plastic, metal, paper,</a:t>
            </a:r>
            <a:r>
              <a:rPr lang="en-IN" sz="2400" b="1" dirty="0"/>
              <a:t> </a:t>
            </a:r>
            <a:r>
              <a:rPr lang="en-IN" sz="2400" dirty="0"/>
              <a:t>glass, or organic waste. Based on the classification result, the system automatically directs the waste to the appropriate bin using actuators or mechanical mechanisms.</a:t>
            </a:r>
          </a:p>
          <a:p>
            <a:r>
              <a:rPr lang="en-IN" sz="2400" dirty="0"/>
              <a:t> The proposed system helps in reducing human effort, improving recycling efficiency, and promoting proper waste management practices. I</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2C51C4-A331-B215-5515-9880C1B87DB3}"/>
              </a:ext>
            </a:extLst>
          </p:cNvPr>
          <p:cNvSpPr txBox="1"/>
          <p:nvPr/>
        </p:nvSpPr>
        <p:spPr>
          <a:xfrm>
            <a:off x="727788" y="167950"/>
            <a:ext cx="5717449"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3969815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E7FE06F0-EA70-101A-EE9D-54B4D98E2482}"/>
              </a:ext>
            </a:extLst>
          </p:cNvPr>
          <p:cNvSpPr txBox="1"/>
          <p:nvPr/>
        </p:nvSpPr>
        <p:spPr>
          <a:xfrm>
            <a:off x="597878" y="445476"/>
            <a:ext cx="6406782"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Literature Survey</a:t>
            </a:r>
          </a:p>
        </p:txBody>
      </p:sp>
      <p:sp>
        <p:nvSpPr>
          <p:cNvPr id="42" name="TextBox 41">
            <a:extLst>
              <a:ext uri="{FF2B5EF4-FFF2-40B4-BE49-F238E27FC236}">
                <a16:creationId xmlns:a16="http://schemas.microsoft.com/office/drawing/2014/main" id="{FFC47086-2A90-8EE6-E930-20FE9F4ECD1E}"/>
              </a:ext>
            </a:extLst>
          </p:cNvPr>
          <p:cNvSpPr txBox="1"/>
          <p:nvPr/>
        </p:nvSpPr>
        <p:spPr>
          <a:xfrm>
            <a:off x="808892" y="1569642"/>
            <a:ext cx="10632832" cy="4293483"/>
          </a:xfrm>
          <a:prstGeom prst="rect">
            <a:avLst/>
          </a:prstGeom>
          <a:noFill/>
        </p:spPr>
        <p:txBody>
          <a:bodyPr wrap="square" rtlCol="0">
            <a:spAutoFit/>
          </a:bodyPr>
          <a:lstStyle/>
          <a:p>
            <a:r>
              <a:rPr lang="en-GB" sz="2650" b="1" dirty="0">
                <a:latin typeface="Times New Roman" panose="02020603050405020304" pitchFamily="18" charset="0"/>
                <a:cs typeface="Times New Roman" panose="02020603050405020304" pitchFamily="18" charset="0"/>
              </a:rPr>
              <a:t>Title: Smart Segregation System</a:t>
            </a:r>
            <a:endParaRPr lang="en-GB" sz="2650" dirty="0">
              <a:latin typeface="Times New Roman" panose="02020603050405020304" pitchFamily="18" charset="0"/>
              <a:cs typeface="Times New Roman" panose="02020603050405020304" pitchFamily="18" charset="0"/>
            </a:endParaRPr>
          </a:p>
          <a:p>
            <a:r>
              <a:rPr lang="en-GB" sz="2650" b="1" dirty="0">
                <a:latin typeface="Times New Roman" panose="02020603050405020304" pitchFamily="18" charset="0"/>
                <a:cs typeface="Times New Roman" panose="02020603050405020304" pitchFamily="18" charset="0"/>
              </a:rPr>
              <a:t>Description: </a:t>
            </a:r>
            <a:r>
              <a:rPr lang="en-US" sz="2400" dirty="0"/>
              <a:t>Recent studies highlight the growing importance of smart waste segregation systems due to rapid urbanization and increasing waste generation. A study on IoT-based waste segregation systems explains that traditional waste handling leads to unhygienic conditions and health risks, and proposes automated segregation using sensors to reduce human effort and improve efficiency . Another research work on smart waste detection systems uses components like infrared sensors, inductive sensors, and microcontrollers to classify waste into different categories, showing that automation can significantly enhance accuracy and reduce manual errors.</a:t>
            </a:r>
          </a:p>
          <a:p>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5674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F30104-A9B9-AD6F-9B3A-1B5B946C9F43}"/>
              </a:ext>
            </a:extLst>
          </p:cNvPr>
          <p:cNvSpPr txBox="1"/>
          <p:nvPr/>
        </p:nvSpPr>
        <p:spPr>
          <a:xfrm>
            <a:off x="609599" y="457200"/>
            <a:ext cx="11160369"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Limitations of Existing Algorithms/Methodologies</a:t>
            </a:r>
          </a:p>
        </p:txBody>
      </p:sp>
      <p:sp>
        <p:nvSpPr>
          <p:cNvPr id="4" name="TextBox 3">
            <a:extLst>
              <a:ext uri="{FF2B5EF4-FFF2-40B4-BE49-F238E27FC236}">
                <a16:creationId xmlns:a16="http://schemas.microsoft.com/office/drawing/2014/main" id="{C9B90A06-1DA9-8791-1EE8-3071022E3EB9}"/>
              </a:ext>
            </a:extLst>
          </p:cNvPr>
          <p:cNvSpPr txBox="1"/>
          <p:nvPr/>
        </p:nvSpPr>
        <p:spPr>
          <a:xfrm>
            <a:off x="937845" y="1781908"/>
            <a:ext cx="10456985" cy="4647426"/>
          </a:xfrm>
          <a:prstGeom prst="rect">
            <a:avLst/>
          </a:prstGeom>
          <a:noFill/>
        </p:spPr>
        <p:txBody>
          <a:bodyPr wrap="square" rtlCol="0">
            <a:spAutoFit/>
          </a:bodyPr>
          <a:lstStyle/>
          <a:p>
            <a:r>
              <a:rPr lang="en-US" sz="2000" dirty="0"/>
              <a:t>Existing algorithms and methodologies for smart segregation systems face significant limitations across all five functional areas, hindering their effectiveness. For dashboards and analytics, the primary issues are data latency and architectural silos, where disparate systems fail to integrate seamlessly, resulting in delayed insights and a lack of predictive or prescriptive capabilities necessary for proactive decision-making. In waste monitoring and bin management, the limitations are largely hardware-dependent and logistical; sensor reliability is compromised by environmental factors and connectivity issues, while route optimization algorithms remain largely static, failing to adapt dynamically to real-time fill levels or predict maintenance needs. Finally, AI training is constrained by data scarcity and bias, as models trained on limited datasets struggle to generalize across diverse waste streams and lighting conditions, with concept drift and high annotation costs further degrading long-term accuracy and trust in the system.</a:t>
            </a:r>
          </a:p>
          <a:p>
            <a:br>
              <a:rPr lang="en-US" sz="2800" dirty="0"/>
            </a:b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3946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98D5B9-691C-8A24-7C8F-2C5A1201D2B1}"/>
              </a:ext>
            </a:extLst>
          </p:cNvPr>
          <p:cNvSpPr txBox="1"/>
          <p:nvPr/>
        </p:nvSpPr>
        <p:spPr>
          <a:xfrm>
            <a:off x="668215" y="820614"/>
            <a:ext cx="6527065" cy="707886"/>
          </a:xfrm>
          <a:prstGeom prst="rect">
            <a:avLst/>
          </a:prstGeom>
          <a:noFill/>
        </p:spPr>
        <p:txBody>
          <a:bodyPr wrap="square" rtlCol="0">
            <a:spAutoFit/>
          </a:bodyPr>
          <a:lstStyle/>
          <a:p>
            <a:pPr marL="285750" indent="-285750">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Flowchart</a:t>
            </a:r>
            <a:endParaRPr lang="en-GB" sz="4000" dirty="0"/>
          </a:p>
        </p:txBody>
      </p:sp>
      <p:pic>
        <p:nvPicPr>
          <p:cNvPr id="1026" name="Picture 2">
            <a:extLst>
              <a:ext uri="{FF2B5EF4-FFF2-40B4-BE49-F238E27FC236}">
                <a16:creationId xmlns:a16="http://schemas.microsoft.com/office/drawing/2014/main" id="{17E4D8A6-B217-D757-964F-30FCF51197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5755" y="1903444"/>
            <a:ext cx="4628761" cy="4572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344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8B7055-0156-94C2-DA62-DAA5DCB53F97}"/>
              </a:ext>
            </a:extLst>
          </p:cNvPr>
          <p:cNvSpPr txBox="1"/>
          <p:nvPr/>
        </p:nvSpPr>
        <p:spPr>
          <a:xfrm>
            <a:off x="608454" y="842211"/>
            <a:ext cx="7645889" cy="707886"/>
          </a:xfrm>
          <a:prstGeom prst="rect">
            <a:avLst/>
          </a:prstGeom>
          <a:noFill/>
        </p:spPr>
        <p:txBody>
          <a:bodyPr wrap="square" rtlCol="0">
            <a:spAutoFit/>
          </a:bodyPr>
          <a:lstStyle/>
          <a:p>
            <a:pPr marL="571500" indent="-571500">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Architecture</a:t>
            </a:r>
            <a:endParaRPr lang="en-GB" sz="4000" dirty="0"/>
          </a:p>
        </p:txBody>
      </p:sp>
    </p:spTree>
    <p:extLst>
      <p:ext uri="{BB962C8B-B14F-4D97-AF65-F5344CB8AC3E}">
        <p14:creationId xmlns:p14="http://schemas.microsoft.com/office/powerpoint/2010/main" val="4234821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D1750A-278A-05E1-6D84-2610642A97C6}"/>
              </a:ext>
            </a:extLst>
          </p:cNvPr>
          <p:cNvSpPr txBox="1"/>
          <p:nvPr/>
        </p:nvSpPr>
        <p:spPr>
          <a:xfrm>
            <a:off x="634481" y="746450"/>
            <a:ext cx="3069772" cy="707886"/>
          </a:xfrm>
          <a:prstGeom prst="rect">
            <a:avLst/>
          </a:prstGeom>
          <a:noFill/>
        </p:spPr>
        <p:txBody>
          <a:bodyPr wrap="square" rtlCol="0">
            <a:spAutoFit/>
          </a:bodyPr>
          <a:lstStyle/>
          <a:p>
            <a:pPr marL="285750" indent="-285750">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Screenshots</a:t>
            </a:r>
            <a:endParaRPr lang="en-IN" sz="4000" dirty="0"/>
          </a:p>
        </p:txBody>
      </p:sp>
      <p:sp>
        <p:nvSpPr>
          <p:cNvPr id="6" name="TextBox 5">
            <a:extLst>
              <a:ext uri="{FF2B5EF4-FFF2-40B4-BE49-F238E27FC236}">
                <a16:creationId xmlns:a16="http://schemas.microsoft.com/office/drawing/2014/main" id="{B02FC0D6-75A8-70E0-3F0F-779F95D19A01}"/>
              </a:ext>
            </a:extLst>
          </p:cNvPr>
          <p:cNvSpPr txBox="1"/>
          <p:nvPr/>
        </p:nvSpPr>
        <p:spPr>
          <a:xfrm>
            <a:off x="5393094" y="6214188"/>
            <a:ext cx="1894114" cy="461665"/>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Sign In Page</a:t>
            </a:r>
            <a:endParaRPr lang="en-IN" sz="2400" dirty="0"/>
          </a:p>
        </p:txBody>
      </p:sp>
      <p:pic>
        <p:nvPicPr>
          <p:cNvPr id="4" name="Picture 3">
            <a:extLst>
              <a:ext uri="{FF2B5EF4-FFF2-40B4-BE49-F238E27FC236}">
                <a16:creationId xmlns:a16="http://schemas.microsoft.com/office/drawing/2014/main" id="{9232FDEA-E0D8-615A-6A19-4C2734A38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375" y="1614197"/>
            <a:ext cx="10070529" cy="4152121"/>
          </a:xfrm>
          <a:prstGeom prst="rect">
            <a:avLst/>
          </a:prstGeom>
        </p:spPr>
      </p:pic>
    </p:spTree>
    <p:extLst>
      <p:ext uri="{BB962C8B-B14F-4D97-AF65-F5344CB8AC3E}">
        <p14:creationId xmlns:p14="http://schemas.microsoft.com/office/powerpoint/2010/main" val="984921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05C824-A397-9680-4DBD-40EBCBD3204E}"/>
              </a:ext>
            </a:extLst>
          </p:cNvPr>
          <p:cNvSpPr txBox="1"/>
          <p:nvPr/>
        </p:nvSpPr>
        <p:spPr>
          <a:xfrm>
            <a:off x="625151" y="877078"/>
            <a:ext cx="3135086" cy="707886"/>
          </a:xfrm>
          <a:prstGeom prst="rect">
            <a:avLst/>
          </a:prstGeom>
          <a:noFill/>
        </p:spPr>
        <p:txBody>
          <a:bodyPr wrap="square" rtlCol="0">
            <a:spAutoFit/>
          </a:bodyPr>
          <a:lstStyle/>
          <a:p>
            <a:pPr marL="285750" indent="-285750">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Screenshots</a:t>
            </a:r>
            <a:endParaRPr lang="en-IN" sz="4000" dirty="0"/>
          </a:p>
        </p:txBody>
      </p:sp>
      <p:sp>
        <p:nvSpPr>
          <p:cNvPr id="5" name="TextBox 4">
            <a:extLst>
              <a:ext uri="{FF2B5EF4-FFF2-40B4-BE49-F238E27FC236}">
                <a16:creationId xmlns:a16="http://schemas.microsoft.com/office/drawing/2014/main" id="{9B7350D2-291D-D69B-1FE1-44AEE2DE0306}"/>
              </a:ext>
            </a:extLst>
          </p:cNvPr>
          <p:cNvSpPr txBox="1"/>
          <p:nvPr/>
        </p:nvSpPr>
        <p:spPr>
          <a:xfrm>
            <a:off x="4711958" y="6288833"/>
            <a:ext cx="2817845" cy="461665"/>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Admin Dashboard</a:t>
            </a:r>
            <a:endParaRPr lang="en-IN" sz="2400" dirty="0"/>
          </a:p>
        </p:txBody>
      </p:sp>
      <p:pic>
        <p:nvPicPr>
          <p:cNvPr id="6" name="Picture 5">
            <a:extLst>
              <a:ext uri="{FF2B5EF4-FFF2-40B4-BE49-F238E27FC236}">
                <a16:creationId xmlns:a16="http://schemas.microsoft.com/office/drawing/2014/main" id="{4749BAEF-1A21-2DAB-1992-EA9937557C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151" y="1664709"/>
            <a:ext cx="10608905" cy="4596133"/>
          </a:xfrm>
          <a:prstGeom prst="rect">
            <a:avLst/>
          </a:prstGeom>
        </p:spPr>
      </p:pic>
    </p:spTree>
    <p:extLst>
      <p:ext uri="{BB962C8B-B14F-4D97-AF65-F5344CB8AC3E}">
        <p14:creationId xmlns:p14="http://schemas.microsoft.com/office/powerpoint/2010/main" val="1446965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ED8987-FFC6-48FD-3E1F-BA048443B38B}"/>
              </a:ext>
            </a:extLst>
          </p:cNvPr>
          <p:cNvSpPr txBox="1"/>
          <p:nvPr/>
        </p:nvSpPr>
        <p:spPr>
          <a:xfrm>
            <a:off x="643812" y="737119"/>
            <a:ext cx="3237723" cy="984885"/>
          </a:xfrm>
          <a:prstGeom prst="rect">
            <a:avLst/>
          </a:prstGeom>
          <a:noFill/>
        </p:spPr>
        <p:txBody>
          <a:bodyPr wrap="square" rtlCol="0">
            <a:spAutoFit/>
          </a:bodyPr>
          <a:lstStyle/>
          <a:p>
            <a:pPr marL="285750" indent="-285750">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Screenshots</a:t>
            </a:r>
            <a:endParaRPr lang="en-IN" sz="4000" dirty="0"/>
          </a:p>
          <a:p>
            <a:endParaRPr lang="en-IN" dirty="0"/>
          </a:p>
        </p:txBody>
      </p:sp>
      <p:pic>
        <p:nvPicPr>
          <p:cNvPr id="6" name="Picture 5">
            <a:extLst>
              <a:ext uri="{FF2B5EF4-FFF2-40B4-BE49-F238E27FC236}">
                <a16:creationId xmlns:a16="http://schemas.microsoft.com/office/drawing/2014/main" id="{3FD01DC7-45A1-6CDD-E7CA-E643ADB63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747" y="1623527"/>
            <a:ext cx="10161038" cy="4534678"/>
          </a:xfrm>
          <a:prstGeom prst="rect">
            <a:avLst/>
          </a:prstGeom>
        </p:spPr>
      </p:pic>
    </p:spTree>
    <p:extLst>
      <p:ext uri="{BB962C8B-B14F-4D97-AF65-F5344CB8AC3E}">
        <p14:creationId xmlns:p14="http://schemas.microsoft.com/office/powerpoint/2010/main" val="777624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341A04-F9AF-1097-53E5-FD25394258F2}"/>
              </a:ext>
            </a:extLst>
          </p:cNvPr>
          <p:cNvSpPr txBox="1"/>
          <p:nvPr/>
        </p:nvSpPr>
        <p:spPr>
          <a:xfrm>
            <a:off x="634482" y="755780"/>
            <a:ext cx="3116424" cy="707886"/>
          </a:xfrm>
          <a:prstGeom prst="rect">
            <a:avLst/>
          </a:prstGeom>
          <a:noFill/>
        </p:spPr>
        <p:txBody>
          <a:bodyPr wrap="square" rtlCol="0">
            <a:spAutoFit/>
          </a:bodyPr>
          <a:lstStyle/>
          <a:p>
            <a:pPr marL="285750" indent="-285750">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Screenshots</a:t>
            </a:r>
            <a:endParaRPr lang="en-IN" sz="4000" dirty="0"/>
          </a:p>
        </p:txBody>
      </p:sp>
      <p:sp>
        <p:nvSpPr>
          <p:cNvPr id="5" name="TextBox 4">
            <a:extLst>
              <a:ext uri="{FF2B5EF4-FFF2-40B4-BE49-F238E27FC236}">
                <a16:creationId xmlns:a16="http://schemas.microsoft.com/office/drawing/2014/main" id="{78A909E9-2C40-660C-EE65-79FD880226AE}"/>
              </a:ext>
            </a:extLst>
          </p:cNvPr>
          <p:cNvSpPr txBox="1"/>
          <p:nvPr/>
        </p:nvSpPr>
        <p:spPr>
          <a:xfrm>
            <a:off x="4422710" y="6167536"/>
            <a:ext cx="2677886" cy="461665"/>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AI Model Training</a:t>
            </a:r>
            <a:endParaRPr lang="en-IN" sz="2400" dirty="0"/>
          </a:p>
        </p:txBody>
      </p:sp>
      <p:pic>
        <p:nvPicPr>
          <p:cNvPr id="6" name="Picture 5">
            <a:extLst>
              <a:ext uri="{FF2B5EF4-FFF2-40B4-BE49-F238E27FC236}">
                <a16:creationId xmlns:a16="http://schemas.microsoft.com/office/drawing/2014/main" id="{F1EDBB9F-2BA7-F1D8-F3A5-4ADEFAED1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102" y="1567543"/>
            <a:ext cx="10571584" cy="4599993"/>
          </a:xfrm>
          <a:prstGeom prst="rect">
            <a:avLst/>
          </a:prstGeom>
        </p:spPr>
      </p:pic>
    </p:spTree>
    <p:extLst>
      <p:ext uri="{BB962C8B-B14F-4D97-AF65-F5344CB8AC3E}">
        <p14:creationId xmlns:p14="http://schemas.microsoft.com/office/powerpoint/2010/main" val="1185426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B6A7EF-B0F7-D6C1-B064-96145854E411}"/>
              </a:ext>
            </a:extLst>
          </p:cNvPr>
          <p:cNvSpPr txBox="1"/>
          <p:nvPr/>
        </p:nvSpPr>
        <p:spPr>
          <a:xfrm>
            <a:off x="733926" y="565483"/>
            <a:ext cx="11129828"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Hardware/Software Requirements</a:t>
            </a:r>
          </a:p>
        </p:txBody>
      </p:sp>
      <p:sp>
        <p:nvSpPr>
          <p:cNvPr id="5" name="TextBox 4">
            <a:extLst>
              <a:ext uri="{FF2B5EF4-FFF2-40B4-BE49-F238E27FC236}">
                <a16:creationId xmlns:a16="http://schemas.microsoft.com/office/drawing/2014/main" id="{ECFA624B-150F-1C99-BFDE-81498CA47F31}"/>
              </a:ext>
            </a:extLst>
          </p:cNvPr>
          <p:cNvSpPr txBox="1"/>
          <p:nvPr/>
        </p:nvSpPr>
        <p:spPr>
          <a:xfrm>
            <a:off x="1113692" y="1606062"/>
            <a:ext cx="12367846" cy="2412712"/>
          </a:xfrm>
          <a:prstGeom prst="rect">
            <a:avLst/>
          </a:prstGeom>
          <a:noFill/>
        </p:spPr>
        <p:txBody>
          <a:bodyPr wrap="square">
            <a:spAutoFit/>
          </a:bodyPr>
          <a:lstStyle/>
          <a:p>
            <a:pPr marL="12700" marR="2317115">
              <a:lnSpc>
                <a:spcPct val="115100"/>
              </a:lnSpc>
              <a:spcBef>
                <a:spcPts val="100"/>
              </a:spcBef>
            </a:pPr>
            <a:endParaRPr lang="en-IN" sz="2800" b="1" u="sng" spc="65" dirty="0">
              <a:latin typeface="Times New Roman" panose="02020603050405020304" pitchFamily="18" charset="0"/>
              <a:cs typeface="Times New Roman" panose="02020603050405020304" pitchFamily="18" charset="0"/>
            </a:endParaRPr>
          </a:p>
          <a:p>
            <a:pPr marL="12700" marR="2317115">
              <a:lnSpc>
                <a:spcPct val="115100"/>
              </a:lnSpc>
              <a:spcBef>
                <a:spcPts val="100"/>
              </a:spcBef>
            </a:pPr>
            <a:r>
              <a:rPr lang="en-IN" sz="2800" b="1" u="sng" spc="65" dirty="0">
                <a:latin typeface="Times New Roman" panose="02020603050405020304" pitchFamily="18" charset="0"/>
                <a:cs typeface="Times New Roman" panose="02020603050405020304" pitchFamily="18" charset="0"/>
              </a:rPr>
              <a:t>Hardware Requirements:</a:t>
            </a:r>
            <a:endParaRPr lang="en-US" altLang="en-GB" sz="2400" b="1" dirty="0"/>
          </a:p>
          <a:p>
            <a:pPr>
              <a:lnSpc>
                <a:spcPct val="50000"/>
              </a:lnSpc>
            </a:pPr>
            <a:endParaRPr lang="en-US" altLang="en-GB" sz="2400" b="1" dirty="0"/>
          </a:p>
          <a:p>
            <a:pPr>
              <a:lnSpc>
                <a:spcPct val="50000"/>
              </a:lnSpc>
            </a:pPr>
            <a:endParaRPr lang="en-US" altLang="en-GB" sz="2400" b="1" dirty="0"/>
          </a:p>
          <a:p>
            <a:pPr>
              <a:lnSpc>
                <a:spcPct val="50000"/>
              </a:lnSpc>
            </a:pPr>
            <a:r>
              <a:rPr lang="en-US" altLang="en-GB" sz="2400" b="1" dirty="0"/>
              <a:t>Processor:</a:t>
            </a:r>
            <a:r>
              <a:rPr lang="en-US" altLang="en-GB" sz="2400" dirty="0"/>
              <a:t> Intel i3 / AMD Ryzen 3 or above</a:t>
            </a:r>
          </a:p>
          <a:p>
            <a:pPr>
              <a:lnSpc>
                <a:spcPct val="50000"/>
              </a:lnSpc>
            </a:pPr>
            <a:endParaRPr lang="en-US" altLang="en-GB" sz="2400" b="1" dirty="0"/>
          </a:p>
          <a:p>
            <a:pPr>
              <a:lnSpc>
                <a:spcPct val="50000"/>
              </a:lnSpc>
            </a:pPr>
            <a:r>
              <a:rPr lang="en-US" altLang="en-GB" sz="2400" b="1" dirty="0"/>
              <a:t>RAM: </a:t>
            </a:r>
            <a:r>
              <a:rPr lang="en-US" altLang="en-GB" sz="2400" dirty="0"/>
              <a:t>Minimum 4 GB (8 GB recommended)</a:t>
            </a:r>
          </a:p>
          <a:p>
            <a:pPr>
              <a:lnSpc>
                <a:spcPct val="50000"/>
              </a:lnSpc>
            </a:pPr>
            <a:endParaRPr lang="en-US" altLang="en-GB" sz="2400" b="1" dirty="0"/>
          </a:p>
          <a:p>
            <a:pPr>
              <a:lnSpc>
                <a:spcPct val="50000"/>
              </a:lnSpc>
            </a:pPr>
            <a:r>
              <a:rPr lang="en-US" altLang="en-GB" sz="2400" b="1" dirty="0"/>
              <a:t>Storage: </a:t>
            </a:r>
            <a:r>
              <a:rPr lang="en-US" altLang="en-GB" sz="2400" dirty="0"/>
              <a:t>At least 50 GB free disk space </a:t>
            </a:r>
          </a:p>
        </p:txBody>
      </p:sp>
    </p:spTree>
    <p:extLst>
      <p:ext uri="{BB962C8B-B14F-4D97-AF65-F5344CB8AC3E}">
        <p14:creationId xmlns:p14="http://schemas.microsoft.com/office/powerpoint/2010/main" val="2290124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86DEAE-B138-1706-BC61-69312E8758D0}"/>
              </a:ext>
            </a:extLst>
          </p:cNvPr>
          <p:cNvSpPr txBox="1"/>
          <p:nvPr/>
        </p:nvSpPr>
        <p:spPr>
          <a:xfrm>
            <a:off x="644769" y="527537"/>
            <a:ext cx="10257693"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Hardware/Software Requirements</a:t>
            </a:r>
          </a:p>
        </p:txBody>
      </p:sp>
      <p:sp>
        <p:nvSpPr>
          <p:cNvPr id="5" name="TextBox 4">
            <a:extLst>
              <a:ext uri="{FF2B5EF4-FFF2-40B4-BE49-F238E27FC236}">
                <a16:creationId xmlns:a16="http://schemas.microsoft.com/office/drawing/2014/main" id="{C839C3E0-4482-2B99-E9F3-37C9DCE13AF0}"/>
              </a:ext>
            </a:extLst>
          </p:cNvPr>
          <p:cNvSpPr txBox="1"/>
          <p:nvPr/>
        </p:nvSpPr>
        <p:spPr>
          <a:xfrm>
            <a:off x="1195754" y="2121877"/>
            <a:ext cx="10703169" cy="3574761"/>
          </a:xfrm>
          <a:prstGeom prst="rect">
            <a:avLst/>
          </a:prstGeom>
          <a:noFill/>
        </p:spPr>
        <p:txBody>
          <a:bodyPr wrap="square">
            <a:spAutoFit/>
          </a:bodyPr>
          <a:lstStyle/>
          <a:p>
            <a:pPr>
              <a:lnSpc>
                <a:spcPct val="50000"/>
              </a:lnSpc>
            </a:pPr>
            <a:r>
              <a:rPr lang="en-IN" sz="2800" b="1" u="sng" spc="65" dirty="0">
                <a:latin typeface="Times New Roman" panose="02020603050405020304" pitchFamily="18" charset="0"/>
                <a:cs typeface="Times New Roman" panose="02020603050405020304" pitchFamily="18" charset="0"/>
              </a:rPr>
              <a:t>Software Requirements:</a:t>
            </a:r>
            <a:endParaRPr lang="en-US" altLang="en-GB" sz="2800" dirty="0"/>
          </a:p>
          <a:p>
            <a:pPr>
              <a:lnSpc>
                <a:spcPct val="50000"/>
              </a:lnSpc>
            </a:pPr>
            <a:endParaRPr lang="en-US" altLang="en-GB" sz="2800" b="1" dirty="0"/>
          </a:p>
          <a:p>
            <a:pPr>
              <a:lnSpc>
                <a:spcPct val="50000"/>
              </a:lnSpc>
            </a:pPr>
            <a:endParaRPr lang="en-US" altLang="en-GB" sz="2800" dirty="0"/>
          </a:p>
          <a:p>
            <a:pPr>
              <a:lnSpc>
                <a:spcPct val="50000"/>
              </a:lnSpc>
            </a:pPr>
            <a:r>
              <a:rPr lang="en-US" altLang="en-GB" sz="2800" b="1" dirty="0"/>
              <a:t>Operating System: </a:t>
            </a:r>
            <a:r>
              <a:rPr lang="en-US" altLang="en-GB" sz="2800" dirty="0"/>
              <a:t>Windows , Linux, or macOS</a:t>
            </a:r>
          </a:p>
          <a:p>
            <a:pPr>
              <a:lnSpc>
                <a:spcPct val="50000"/>
              </a:lnSpc>
            </a:pPr>
            <a:endParaRPr lang="en-US" altLang="en-GB" sz="2800" b="1" dirty="0"/>
          </a:p>
          <a:p>
            <a:pPr>
              <a:lnSpc>
                <a:spcPct val="50000"/>
              </a:lnSpc>
            </a:pPr>
            <a:r>
              <a:rPr lang="en-US" altLang="en-GB" sz="2800" b="1" dirty="0"/>
              <a:t>Programming Language: </a:t>
            </a:r>
            <a:r>
              <a:rPr lang="en-US" altLang="en-GB" sz="2800" dirty="0"/>
              <a:t>Python </a:t>
            </a:r>
          </a:p>
          <a:p>
            <a:pPr>
              <a:lnSpc>
                <a:spcPct val="50000"/>
              </a:lnSpc>
            </a:pPr>
            <a:endParaRPr lang="en-US" altLang="en-GB" sz="2800" b="1" dirty="0"/>
          </a:p>
          <a:p>
            <a:pPr>
              <a:lnSpc>
                <a:spcPct val="50000"/>
              </a:lnSpc>
            </a:pPr>
            <a:r>
              <a:rPr lang="en-US" altLang="en-GB" sz="2800" b="1" dirty="0"/>
              <a:t>Frameworks: </a:t>
            </a:r>
            <a:r>
              <a:rPr lang="en-US" altLang="en-GB" sz="2800" dirty="0"/>
              <a:t>Django </a:t>
            </a:r>
          </a:p>
          <a:p>
            <a:pPr>
              <a:lnSpc>
                <a:spcPct val="50000"/>
              </a:lnSpc>
            </a:pPr>
            <a:endParaRPr lang="en-US" altLang="en-GB" sz="2800" b="1" dirty="0"/>
          </a:p>
          <a:p>
            <a:pPr>
              <a:lnSpc>
                <a:spcPct val="50000"/>
              </a:lnSpc>
            </a:pPr>
            <a:r>
              <a:rPr lang="en-US" altLang="en-GB" sz="2800" b="1" dirty="0"/>
              <a:t>Database: </a:t>
            </a:r>
            <a:r>
              <a:rPr lang="en-US" altLang="en-GB" sz="2800" dirty="0"/>
              <a:t>MySQL </a:t>
            </a:r>
          </a:p>
          <a:p>
            <a:pPr>
              <a:lnSpc>
                <a:spcPct val="50000"/>
              </a:lnSpc>
            </a:pPr>
            <a:endParaRPr lang="en-US" altLang="en-GB" sz="2800" dirty="0"/>
          </a:p>
          <a:p>
            <a:pPr>
              <a:lnSpc>
                <a:spcPct val="50000"/>
              </a:lnSpc>
            </a:pPr>
            <a:r>
              <a:rPr lang="en-US" altLang="en-GB" sz="2800" b="1" dirty="0"/>
              <a:t>Machine Learning Libraries: </a:t>
            </a:r>
            <a:r>
              <a:rPr lang="en-US" altLang="en-GB" sz="2800" dirty="0"/>
              <a:t>Scikit-learn, TensorFlow, or Pandas</a:t>
            </a:r>
          </a:p>
          <a:p>
            <a:pPr>
              <a:lnSpc>
                <a:spcPct val="50000"/>
              </a:lnSpc>
            </a:pPr>
            <a:endParaRPr lang="en-US" altLang="en-GB" sz="2800" b="1" dirty="0"/>
          </a:p>
          <a:p>
            <a:pPr>
              <a:lnSpc>
                <a:spcPct val="50000"/>
              </a:lnSpc>
            </a:pPr>
            <a:r>
              <a:rPr lang="en-US" altLang="en-GB" sz="2800" b="1" dirty="0"/>
              <a:t>Frontend Technologies: </a:t>
            </a:r>
            <a:r>
              <a:rPr lang="en-US" altLang="en-GB" sz="2800" dirty="0"/>
              <a:t>HTML, CSS, JavaScript</a:t>
            </a:r>
          </a:p>
          <a:p>
            <a:pPr marL="12700" marR="2317115">
              <a:lnSpc>
                <a:spcPct val="115100"/>
              </a:lnSpc>
              <a:spcBef>
                <a:spcPts val="100"/>
              </a:spcBef>
            </a:pPr>
            <a:endParaRPr lang="en-IN" sz="2800" spc="65" dirty="0">
              <a:latin typeface="Arial (Body)"/>
              <a:cs typeface="Times New Roman"/>
            </a:endParaRPr>
          </a:p>
        </p:txBody>
      </p:sp>
    </p:spTree>
    <p:extLst>
      <p:ext uri="{BB962C8B-B14F-4D97-AF65-F5344CB8AC3E}">
        <p14:creationId xmlns:p14="http://schemas.microsoft.com/office/powerpoint/2010/main" val="939297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5C47DD-1248-5CD3-804C-6681565EA3DC}"/>
              </a:ext>
            </a:extLst>
          </p:cNvPr>
          <p:cNvSpPr txBox="1"/>
          <p:nvPr/>
        </p:nvSpPr>
        <p:spPr>
          <a:xfrm>
            <a:off x="650296" y="1819469"/>
            <a:ext cx="10677067" cy="4582986"/>
          </a:xfrm>
          <a:prstGeom prst="rect">
            <a:avLst/>
          </a:prstGeom>
          <a:noFill/>
        </p:spPr>
        <p:txBody>
          <a:bodyPr wrap="square">
            <a:spAutoFit/>
          </a:bodyPr>
          <a:lstStyle/>
          <a:p>
            <a:pPr>
              <a:lnSpc>
                <a:spcPct val="50000"/>
              </a:lnSpc>
            </a:pPr>
            <a:r>
              <a:rPr lang="en-US" sz="2400" dirty="0"/>
              <a:t>The AI Smart Segregation System provides an efficient and intelligent </a:t>
            </a:r>
          </a:p>
          <a:p>
            <a:pPr>
              <a:lnSpc>
                <a:spcPct val="50000"/>
              </a:lnSpc>
            </a:pPr>
            <a:endParaRPr lang="en-US" sz="2400" dirty="0"/>
          </a:p>
          <a:p>
            <a:pPr>
              <a:lnSpc>
                <a:spcPct val="50000"/>
              </a:lnSpc>
            </a:pPr>
            <a:r>
              <a:rPr lang="en-US" sz="2400" dirty="0"/>
              <a:t>solution for modern waste management problems. By using Artificial </a:t>
            </a:r>
          </a:p>
          <a:p>
            <a:pPr>
              <a:lnSpc>
                <a:spcPct val="50000"/>
              </a:lnSpc>
            </a:pPr>
            <a:endParaRPr lang="en-US" sz="2400" dirty="0"/>
          </a:p>
          <a:p>
            <a:pPr>
              <a:lnSpc>
                <a:spcPct val="50000"/>
              </a:lnSpc>
            </a:pPr>
            <a:r>
              <a:rPr lang="en-US" sz="2400" dirty="0"/>
              <a:t>Intelligence, image processing, sensors, and automated mechanisms, the </a:t>
            </a:r>
          </a:p>
          <a:p>
            <a:pPr>
              <a:lnSpc>
                <a:spcPct val="50000"/>
              </a:lnSpc>
            </a:pPr>
            <a:endParaRPr lang="en-US" sz="2400" dirty="0"/>
          </a:p>
          <a:p>
            <a:pPr>
              <a:lnSpc>
                <a:spcPct val="50000"/>
              </a:lnSpc>
            </a:pPr>
            <a:r>
              <a:rPr lang="en-US" sz="2400" dirty="0"/>
              <a:t>system can identify and separate different types of waste such as plastic, </a:t>
            </a:r>
          </a:p>
          <a:p>
            <a:pPr>
              <a:lnSpc>
                <a:spcPct val="50000"/>
              </a:lnSpc>
            </a:pPr>
            <a:endParaRPr lang="en-US" sz="2400" dirty="0"/>
          </a:p>
          <a:p>
            <a:pPr>
              <a:lnSpc>
                <a:spcPct val="50000"/>
              </a:lnSpc>
            </a:pPr>
            <a:r>
              <a:rPr lang="en-US" sz="2400" dirty="0"/>
              <a:t>metal, paper, and organic materials automatically. This reduces the need for </a:t>
            </a:r>
          </a:p>
          <a:p>
            <a:pPr>
              <a:lnSpc>
                <a:spcPct val="50000"/>
              </a:lnSpc>
            </a:pPr>
            <a:endParaRPr lang="en-US" sz="2400" dirty="0"/>
          </a:p>
          <a:p>
            <a:pPr>
              <a:lnSpc>
                <a:spcPct val="50000"/>
              </a:lnSpc>
            </a:pPr>
            <a:r>
              <a:rPr lang="en-US" sz="2400" dirty="0"/>
              <a:t>manual sorting and improves the overall efficiency of the waste management </a:t>
            </a:r>
          </a:p>
          <a:p>
            <a:pPr>
              <a:lnSpc>
                <a:spcPct val="50000"/>
              </a:lnSpc>
            </a:pPr>
            <a:endParaRPr lang="en-US" sz="2400" dirty="0"/>
          </a:p>
          <a:p>
            <a:pPr>
              <a:lnSpc>
                <a:spcPct val="50000"/>
              </a:lnSpc>
            </a:pPr>
            <a:r>
              <a:rPr lang="en-US" sz="2400" dirty="0" err="1"/>
              <a:t>process.The</a:t>
            </a:r>
            <a:r>
              <a:rPr lang="en-US" sz="2400" dirty="0"/>
              <a:t> system helps in reducing environmental pollution, increasing </a:t>
            </a:r>
          </a:p>
          <a:p>
            <a:pPr>
              <a:lnSpc>
                <a:spcPct val="50000"/>
              </a:lnSpc>
            </a:pPr>
            <a:endParaRPr lang="en-US" sz="2400" dirty="0"/>
          </a:p>
          <a:p>
            <a:pPr>
              <a:lnSpc>
                <a:spcPct val="50000"/>
              </a:lnSpc>
            </a:pPr>
            <a:r>
              <a:rPr lang="en-US" sz="2400" dirty="0"/>
              <a:t>recycling rates, and promoting proper waste disposal practices. Automation </a:t>
            </a:r>
          </a:p>
          <a:p>
            <a:pPr>
              <a:lnSpc>
                <a:spcPct val="50000"/>
              </a:lnSpc>
            </a:pPr>
            <a:endParaRPr lang="en-US" sz="2400" dirty="0"/>
          </a:p>
          <a:p>
            <a:pPr>
              <a:lnSpc>
                <a:spcPct val="50000"/>
              </a:lnSpc>
            </a:pPr>
            <a:r>
              <a:rPr lang="en-US" sz="2400" dirty="0"/>
              <a:t>also saves time, minimizes human effort, and reduces health risks for workers </a:t>
            </a:r>
          </a:p>
          <a:p>
            <a:pPr>
              <a:lnSpc>
                <a:spcPct val="50000"/>
              </a:lnSpc>
            </a:pPr>
            <a:endParaRPr lang="en-US" sz="2400" dirty="0"/>
          </a:p>
          <a:p>
            <a:pPr>
              <a:lnSpc>
                <a:spcPct val="50000"/>
              </a:lnSpc>
            </a:pPr>
            <a:r>
              <a:rPr lang="en-US" sz="2400" dirty="0"/>
              <a:t>who would otherwise handle waste manually. Although there are some </a:t>
            </a:r>
          </a:p>
          <a:p>
            <a:pPr>
              <a:lnSpc>
                <a:spcPct val="50000"/>
              </a:lnSpc>
            </a:pPr>
            <a:endParaRPr lang="en-US" sz="2400" dirty="0"/>
          </a:p>
          <a:p>
            <a:pPr>
              <a:lnSpc>
                <a:spcPct val="50000"/>
              </a:lnSpc>
            </a:pPr>
            <a:r>
              <a:rPr lang="en-US" sz="2400" dirty="0"/>
              <a:t>challenges such as implementation cost, accuracy under different conditions, </a:t>
            </a:r>
          </a:p>
          <a:p>
            <a:pPr>
              <a:lnSpc>
                <a:spcPct val="50000"/>
              </a:lnSpc>
            </a:pPr>
            <a:endParaRPr lang="en-US" sz="2400" dirty="0"/>
          </a:p>
          <a:p>
            <a:pPr>
              <a:lnSpc>
                <a:spcPct val="50000"/>
              </a:lnSpc>
            </a:pPr>
            <a:r>
              <a:rPr lang="en-US" sz="2400" dirty="0"/>
              <a:t>and hardware </a:t>
            </a:r>
          </a:p>
          <a:p>
            <a:pPr>
              <a:lnSpc>
                <a:spcPct val="50000"/>
              </a:lnSpc>
            </a:pPr>
            <a:r>
              <a:rPr lang="en-US" sz="2800" dirty="0"/>
              <a:t> </a:t>
            </a:r>
          </a:p>
        </p:txBody>
      </p:sp>
      <p:sp>
        <p:nvSpPr>
          <p:cNvPr id="5" name="TextBox 4">
            <a:extLst>
              <a:ext uri="{FF2B5EF4-FFF2-40B4-BE49-F238E27FC236}">
                <a16:creationId xmlns:a16="http://schemas.microsoft.com/office/drawing/2014/main" id="{D0D3FF9C-96BF-48AE-03FE-482DFB34DA49}"/>
              </a:ext>
            </a:extLst>
          </p:cNvPr>
          <p:cNvSpPr txBox="1"/>
          <p:nvPr/>
        </p:nvSpPr>
        <p:spPr>
          <a:xfrm>
            <a:off x="650296" y="440616"/>
            <a:ext cx="6096964" cy="1135888"/>
          </a:xfrm>
          <a:prstGeom prst="rect">
            <a:avLst/>
          </a:prstGeom>
          <a:noFill/>
        </p:spPr>
        <p:txBody>
          <a:bodyPr wrap="square">
            <a:spAutoFit/>
          </a:bodyPr>
          <a:lstStyle/>
          <a:p>
            <a:pPr marL="285750" indent="-285750">
              <a:lnSpc>
                <a:spcPct val="200000"/>
              </a:lnSpc>
              <a:buClr>
                <a:schemeClr val="tx2"/>
              </a:buClr>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080469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93E-9CCE-4C44-9E3C-FD98DFA0D334}"/>
              </a:ext>
            </a:extLst>
          </p:cNvPr>
          <p:cNvSpPr>
            <a:spLocks noGrp="1"/>
          </p:cNvSpPr>
          <p:nvPr>
            <p:ph type="title"/>
          </p:nvPr>
        </p:nvSpPr>
        <p:spPr>
          <a:xfrm>
            <a:off x="684212" y="275208"/>
            <a:ext cx="11140844" cy="6098959"/>
          </a:xfrm>
        </p:spPr>
        <p:txBody>
          <a:bodyPr>
            <a:normAutofit/>
          </a:bodyPr>
          <a:lstStyle/>
          <a:p>
            <a:pPr algn="ctr"/>
            <a:r>
              <a:rPr lang="en-US" sz="6600" b="1" dirty="0">
                <a:solidFill>
                  <a:schemeClr val="tx1"/>
                </a:solidFill>
                <a:latin typeface="Calibri" panose="020F0502020204030204" pitchFamily="34" charset="0"/>
                <a:cs typeface="Calibri" panose="020F0502020204030204" pitchFamily="34" charset="0"/>
              </a:rPr>
              <a:t>THANK YOU</a:t>
            </a:r>
            <a:endParaRPr lang="en-IN" sz="66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2912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emplate>
  <TotalTime>687</TotalTime>
  <Words>1017</Words>
  <Application>Microsoft Office PowerPoint</Application>
  <PresentationFormat>Widescreen</PresentationFormat>
  <Paragraphs>86</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(Body)</vt:lpstr>
      <vt:lpstr>Calibri</vt:lpstr>
      <vt:lpstr>Times New Roman</vt:lpstr>
      <vt:lpstr>Wingdings</vt:lpstr>
      <vt:lpstr>Clarity</vt:lpstr>
      <vt:lpstr>                                                                                                  Department of Computer Science &amp; Engineering                Smart Segregation System                                                                                                                                                                    Batch no. 11                                                                                                                                               1.  2411CS010462(P.Venu Kumar)                                                                                                                                               2.  2411CS010533(T.Manipal Reddy)                                                                                                                      3.  2411CS010625 (B.Shravani Reddy)                    4.  2411CS010322(M.Srishanth)                           Guide   Mrs.Gandu Lavanya</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TALLA PADMAVATHI COLLEGE OF Engineering                       SOMIDI, KAZIPET, WARANGAL.       Department of electronics and communication engineering   Research area : VLSI                             Specific area of research: LOW POWER VLSIDESIGN     Proposed title name of the project:                    AN APC-COM BASED LUT OPTIMIZATION FOR DSP APPLICATIONS                                                                                                                                                           Batch no.1                                                                                                                                                                  1. 18UC1A0420 (N.Sravani)                                                                                                                                                                  2.18UC1A0401 (A.Swapna)                                                                                                                                3.18UC1A0428 (T.Satvika)                                                                                                                                                               4.17UC1A0405(E.Mahesh)</dc:title>
  <dc:creator>sravani neelam</dc:creator>
  <cp:lastModifiedBy>bembadishravanireddy@outlook.com</cp:lastModifiedBy>
  <cp:revision>48</cp:revision>
  <dcterms:created xsi:type="dcterms:W3CDTF">2021-11-21T08:56:41Z</dcterms:created>
  <dcterms:modified xsi:type="dcterms:W3CDTF">2026-04-01T15:24:44Z</dcterms:modified>
</cp:coreProperties>
</file>